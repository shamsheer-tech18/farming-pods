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CCB9"/>
    <a:srgbClr val="C3D9D4"/>
    <a:srgbClr val="D8E9E4"/>
    <a:srgbClr val="D8E8E4"/>
    <a:srgbClr val="C9E1CE"/>
    <a:srgbClr val="BD582C"/>
    <a:srgbClr val="E48312"/>
    <a:srgbClr val="CEE7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667DF4-B771-26D3-B063-7E54AEACAD69}" v="303" dt="2025-12-06T13:39:40.561"/>
    <p1510:client id="{82263BFE-F963-B1E3-C5DB-8B56EC00A939}" v="10" dt="2025-12-06T03:42:19.634"/>
    <p1510:client id="{B8437E84-53E2-EB6F-B9E1-00FA887DF7CF}" v="171" dt="2025-12-05T21:33:02.947"/>
    <p1510:client id="{BB808C3A-B81A-4041-BFC5-0415F1E5CD67}" v="2" dt="2025-12-06T13:28:04.561"/>
    <p1510:client id="{E30EBF41-D404-6B2D-0E1A-DAC692E56271}" v="2" dt="2025-12-06T03:46:12.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2"/>
  </p:normalViewPr>
  <p:slideViewPr>
    <p:cSldViewPr snapToGrid="0">
      <p:cViewPr varScale="1">
        <p:scale>
          <a:sx n="99" d="100"/>
          <a:sy n="99" d="100"/>
        </p:scale>
        <p:origin x="19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E444D0-98BB-4D2F-9D75-C46C1F5C6F58}" type="datetimeFigureOut">
              <a:t>12/26/25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3D056E-3B07-45B5-9A92-445BEC963949}" type="slidenum">
              <a:t>‹#›</a:t>
            </a:fld>
            <a:endParaRPr lang="en-US"/>
          </a:p>
        </p:txBody>
      </p:sp>
    </p:spTree>
    <p:extLst>
      <p:ext uri="{BB962C8B-B14F-4D97-AF65-F5344CB8AC3E}">
        <p14:creationId xmlns:p14="http://schemas.microsoft.com/office/powerpoint/2010/main" val="3182327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Developed and organized a project that will help plant parents breath better both figuratively and literally! The intent of this project is to allow for Indoor farming made easy with an estimated budget of $5,000 and a time frame of 10-12 weeks.</a:t>
            </a:r>
          </a:p>
        </p:txBody>
      </p:sp>
      <p:sp>
        <p:nvSpPr>
          <p:cNvPr id="4" name="Slide Number Placeholder 3"/>
          <p:cNvSpPr>
            <a:spLocks noGrp="1"/>
          </p:cNvSpPr>
          <p:nvPr>
            <p:ph type="sldNum" sz="quarter" idx="5"/>
          </p:nvPr>
        </p:nvSpPr>
        <p:spPr/>
        <p:txBody>
          <a:bodyPr/>
          <a:lstStyle/>
          <a:p>
            <a:fld id="{DD3D056E-3B07-45B5-9A92-445BEC963949}" type="slidenum">
              <a:t>1</a:t>
            </a:fld>
            <a:endParaRPr lang="en-US"/>
          </a:p>
        </p:txBody>
      </p:sp>
    </p:spTree>
    <p:extLst>
      <p:ext uri="{BB962C8B-B14F-4D97-AF65-F5344CB8AC3E}">
        <p14:creationId xmlns:p14="http://schemas.microsoft.com/office/powerpoint/2010/main" val="4098360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Allow for homeowners to grow fresh produce, knowing that our modular pods take care of the grunt work. Water, light, humidity are densely researched and taken into account for care of one's plant. Homeowners can keep track of their seedling's growth through our companion mobile app and see the progress in connection with the pods.</a:t>
            </a:r>
          </a:p>
        </p:txBody>
      </p:sp>
      <p:sp>
        <p:nvSpPr>
          <p:cNvPr id="4" name="Slide Number Placeholder 3"/>
          <p:cNvSpPr>
            <a:spLocks noGrp="1"/>
          </p:cNvSpPr>
          <p:nvPr>
            <p:ph type="sldNum" sz="quarter" idx="5"/>
          </p:nvPr>
        </p:nvSpPr>
        <p:spPr/>
        <p:txBody>
          <a:bodyPr/>
          <a:lstStyle/>
          <a:p>
            <a:fld id="{DD3D056E-3B07-45B5-9A92-445BEC963949}" type="slidenum">
              <a:rPr lang="en-US"/>
              <a:t>2</a:t>
            </a:fld>
            <a:endParaRPr lang="en-US"/>
          </a:p>
        </p:txBody>
      </p:sp>
    </p:spTree>
    <p:extLst>
      <p:ext uri="{BB962C8B-B14F-4D97-AF65-F5344CB8AC3E}">
        <p14:creationId xmlns:p14="http://schemas.microsoft.com/office/powerpoint/2010/main" val="1296489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rPr lang="en-US" b="1"/>
              <a:t>Project Manager:</a:t>
            </a:r>
            <a:r>
              <a:rPr lang="en-US"/>
              <a:t> Oversight, schedules, documentation, milestone tracking.</a:t>
            </a:r>
          </a:p>
          <a:p>
            <a:pPr>
              <a:buFont typeface="Arial"/>
              <a:buChar char="•"/>
            </a:pPr>
            <a:r>
              <a:rPr lang="en-US" b="1"/>
              <a:t>Hardware Lead:</a:t>
            </a:r>
            <a:r>
              <a:rPr lang="en-US"/>
              <a:t> Sensor integration, pod structure, electronics.</a:t>
            </a:r>
            <a:endParaRPr lang="en-US">
              <a:ea typeface="Calibri"/>
              <a:cs typeface="Calibri"/>
            </a:endParaRPr>
          </a:p>
          <a:p>
            <a:pPr>
              <a:buFont typeface="Arial"/>
              <a:buChar char="•"/>
            </a:pPr>
            <a:r>
              <a:rPr lang="en-US" b="1"/>
              <a:t>Software Lead:</a:t>
            </a:r>
            <a:r>
              <a:rPr lang="en-US"/>
              <a:t> App development, interface, integration testing.</a:t>
            </a:r>
            <a:endParaRPr lang="en-US">
              <a:ea typeface="Calibri"/>
              <a:cs typeface="Calibri"/>
            </a:endParaRPr>
          </a:p>
          <a:p>
            <a:pPr>
              <a:buFont typeface="Arial"/>
              <a:buChar char="•"/>
            </a:pPr>
            <a:r>
              <a:rPr lang="en-US" b="1"/>
              <a:t>QA Lead:</a:t>
            </a:r>
            <a:r>
              <a:rPr lang="en-US"/>
              <a:t> Testing, validation, usability and performance checks.</a:t>
            </a:r>
            <a:endParaRPr lang="en-US">
              <a:ea typeface="Calibri"/>
              <a:cs typeface="Calibri"/>
            </a:endParaRPr>
          </a:p>
          <a:p>
            <a:pPr>
              <a:buFont typeface="Arial"/>
              <a:buChar char="•"/>
            </a:pPr>
            <a:r>
              <a:rPr lang="en-US" b="1"/>
              <a:t>Finance Lead:</a:t>
            </a:r>
            <a:r>
              <a:rPr lang="en-US"/>
              <a:t> Budget monitoring, cost reporting.</a:t>
            </a:r>
            <a:endParaRPr lang="en-US">
              <a:ea typeface="Calibri"/>
              <a:cs typeface="Calibri"/>
            </a:endParaRPr>
          </a:p>
          <a:p>
            <a:pPr marL="285750" indent="-285750">
              <a:lnSpc>
                <a:spcPct val="90000"/>
              </a:lnSpc>
              <a:spcBef>
                <a:spcPts val="1000"/>
              </a:spcBef>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DD3D056E-3B07-45B5-9A92-445BEC963949}" type="slidenum">
              <a:t>3</a:t>
            </a:fld>
            <a:endParaRPr lang="en-US"/>
          </a:p>
        </p:txBody>
      </p:sp>
    </p:spTree>
    <p:extLst>
      <p:ext uri="{BB962C8B-B14F-4D97-AF65-F5344CB8AC3E}">
        <p14:creationId xmlns:p14="http://schemas.microsoft.com/office/powerpoint/2010/main" val="3513774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12/26/25</a:t>
            </a:fld>
            <a:endParaRPr lang="en-US"/>
          </a:p>
        </p:txBody>
      </p:sp>
      <p:sp>
        <p:nvSpPr>
          <p:cNvPr id="5" name="Footer Placeholder 4"/>
          <p:cNvSpPr>
            <a:spLocks noGrp="1"/>
          </p:cNvSpPr>
          <p:nvPr>
            <p:ph type="ftr" sz="quarter" idx="11"/>
          </p:nvPr>
        </p:nvSpPr>
        <p:spPr/>
        <p:txBody>
          <a:bodyPr/>
          <a:lstStyle/>
          <a:p>
            <a:r>
              <a:rPr lang="en-US"/>
              <a:t>EPM – Fall 2025</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12/26/25</a:t>
            </a:fld>
            <a:endParaRPr lang="en-US"/>
          </a:p>
        </p:txBody>
      </p:sp>
      <p:sp>
        <p:nvSpPr>
          <p:cNvPr id="5" name="Footer Placeholder 4"/>
          <p:cNvSpPr>
            <a:spLocks noGrp="1"/>
          </p:cNvSpPr>
          <p:nvPr>
            <p:ph type="ftr" sz="quarter" idx="11"/>
          </p:nvPr>
        </p:nvSpPr>
        <p:spPr/>
        <p:txBody>
          <a:bodyPr/>
          <a:lstStyle/>
          <a:p>
            <a:r>
              <a:rPr lang="en-US"/>
              <a:t>EPM – Fall 2025</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12/26/25</a:t>
            </a:fld>
            <a:endParaRPr lang="en-US"/>
          </a:p>
        </p:txBody>
      </p:sp>
      <p:sp>
        <p:nvSpPr>
          <p:cNvPr id="5" name="Footer Placeholder 4"/>
          <p:cNvSpPr>
            <a:spLocks noGrp="1"/>
          </p:cNvSpPr>
          <p:nvPr>
            <p:ph type="ftr" sz="quarter" idx="11"/>
          </p:nvPr>
        </p:nvSpPr>
        <p:spPr/>
        <p:txBody>
          <a:bodyPr/>
          <a:lstStyle/>
          <a:p>
            <a:r>
              <a:rPr lang="en-US"/>
              <a:t>EPM – Fall 2025</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12/26/25</a:t>
            </a:fld>
            <a:endParaRPr lang="en-US"/>
          </a:p>
        </p:txBody>
      </p:sp>
      <p:sp>
        <p:nvSpPr>
          <p:cNvPr id="6" name="Footer Placeholder 5"/>
          <p:cNvSpPr>
            <a:spLocks noGrp="1"/>
          </p:cNvSpPr>
          <p:nvPr>
            <p:ph type="ftr" sz="quarter" idx="11"/>
          </p:nvPr>
        </p:nvSpPr>
        <p:spPr/>
        <p:txBody>
          <a:bodyPr/>
          <a:lstStyle/>
          <a:p>
            <a:r>
              <a:rPr lang="en-US"/>
              <a:t>EPM – Fall 2025</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12/26/25</a:t>
            </a:fld>
            <a:endParaRPr lang="en-US"/>
          </a:p>
        </p:txBody>
      </p:sp>
      <p:sp>
        <p:nvSpPr>
          <p:cNvPr id="8" name="Footer Placeholder 7"/>
          <p:cNvSpPr>
            <a:spLocks noGrp="1"/>
          </p:cNvSpPr>
          <p:nvPr>
            <p:ph type="ftr" sz="quarter" idx="11"/>
          </p:nvPr>
        </p:nvSpPr>
        <p:spPr/>
        <p:txBody>
          <a:bodyPr/>
          <a:lstStyle/>
          <a:p>
            <a:r>
              <a:rPr lang="en-US"/>
              <a:t>EPM – Fall 2025</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12/26/25</a:t>
            </a:fld>
            <a:endParaRPr lang="en-US"/>
          </a:p>
        </p:txBody>
      </p:sp>
      <p:sp>
        <p:nvSpPr>
          <p:cNvPr id="4" name="Footer Placeholder 3"/>
          <p:cNvSpPr>
            <a:spLocks noGrp="1"/>
          </p:cNvSpPr>
          <p:nvPr>
            <p:ph type="ftr" sz="quarter" idx="11"/>
          </p:nvPr>
        </p:nvSpPr>
        <p:spPr/>
        <p:txBody>
          <a:bodyPr/>
          <a:lstStyle/>
          <a:p>
            <a:r>
              <a:rPr lang="en-US"/>
              <a:t>EPM – Fall 2025</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12/26/25</a:t>
            </a:fld>
            <a:endParaRPr lang="en-US"/>
          </a:p>
        </p:txBody>
      </p:sp>
      <p:sp>
        <p:nvSpPr>
          <p:cNvPr id="3" name="Footer Placeholder 2"/>
          <p:cNvSpPr>
            <a:spLocks noGrp="1"/>
          </p:cNvSpPr>
          <p:nvPr>
            <p:ph type="ftr" sz="quarter" idx="11"/>
          </p:nvPr>
        </p:nvSpPr>
        <p:spPr/>
        <p:txBody>
          <a:bodyPr/>
          <a:lstStyle/>
          <a:p>
            <a:r>
              <a:rPr lang="en-US"/>
              <a:t>EPM – Fall 2025</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12/26/25</a:t>
            </a:fld>
            <a:endParaRPr lang="en-US"/>
          </a:p>
        </p:txBody>
      </p:sp>
      <p:sp>
        <p:nvSpPr>
          <p:cNvPr id="6" name="Footer Placeholder 5"/>
          <p:cNvSpPr>
            <a:spLocks noGrp="1"/>
          </p:cNvSpPr>
          <p:nvPr>
            <p:ph type="ftr" sz="quarter" idx="11"/>
          </p:nvPr>
        </p:nvSpPr>
        <p:spPr/>
        <p:txBody>
          <a:bodyPr/>
          <a:lstStyle/>
          <a:p>
            <a:r>
              <a:rPr lang="en-US"/>
              <a:t>EPM – Fall 2025</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12/26/25</a:t>
            </a:fld>
            <a:endParaRPr lang="en-US"/>
          </a:p>
        </p:txBody>
      </p:sp>
      <p:sp>
        <p:nvSpPr>
          <p:cNvPr id="6" name="Footer Placeholder 5"/>
          <p:cNvSpPr>
            <a:spLocks noGrp="1"/>
          </p:cNvSpPr>
          <p:nvPr>
            <p:ph type="ftr" sz="quarter" idx="11"/>
          </p:nvPr>
        </p:nvSpPr>
        <p:spPr/>
        <p:txBody>
          <a:bodyPr/>
          <a:lstStyle/>
          <a:p>
            <a:r>
              <a:rPr lang="en-US"/>
              <a:t>EPM – Fall 2025</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12/26/25</a:t>
            </a:fld>
            <a:endParaRPr lang="en-US"/>
          </a:p>
        </p:txBody>
      </p:sp>
      <p:sp>
        <p:nvSpPr>
          <p:cNvPr id="5" name="Footer Placeholder 4"/>
          <p:cNvSpPr>
            <a:spLocks noGrp="1"/>
          </p:cNvSpPr>
          <p:nvPr>
            <p:ph type="ftr" sz="quarter" idx="11"/>
          </p:nvPr>
        </p:nvSpPr>
        <p:spPr/>
        <p:txBody>
          <a:bodyPr/>
          <a:lstStyle/>
          <a:p>
            <a:r>
              <a:rPr lang="en-US"/>
              <a:t>EPM – Fall 2025</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12/26/25</a:t>
            </a:fld>
            <a:endParaRPr lang="en-US"/>
          </a:p>
        </p:txBody>
      </p:sp>
      <p:sp>
        <p:nvSpPr>
          <p:cNvPr id="5" name="Footer Placeholder 4"/>
          <p:cNvSpPr>
            <a:spLocks noGrp="1"/>
          </p:cNvSpPr>
          <p:nvPr>
            <p:ph type="ftr" sz="quarter" idx="11"/>
          </p:nvPr>
        </p:nvSpPr>
        <p:spPr/>
        <p:txBody>
          <a:bodyPr/>
          <a:lstStyle/>
          <a:p>
            <a:r>
              <a:rPr lang="en-US"/>
              <a:t>EPM – Fall 2025</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12/26/25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EPM – Fall 2025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97762" y="640080"/>
            <a:ext cx="6251110" cy="3566160"/>
          </a:xfrm>
        </p:spPr>
        <p:txBody>
          <a:bodyPr anchor="b">
            <a:normAutofit/>
          </a:bodyPr>
          <a:lstStyle/>
          <a:p>
            <a:pPr algn="l"/>
            <a:r>
              <a:rPr lang="en-US" sz="5400">
                <a:solidFill>
                  <a:schemeClr val="tx2"/>
                </a:solidFill>
                <a:latin typeface="Calibri Light"/>
                <a:ea typeface="Calibri Light"/>
                <a:cs typeface="Calibri Light"/>
              </a:rPr>
              <a:t>EGMT 5220:</a:t>
            </a:r>
            <a:br>
              <a:rPr lang="en-US" sz="5400">
                <a:solidFill>
                  <a:schemeClr val="tx2"/>
                </a:solidFill>
                <a:latin typeface="Calibri Light"/>
                <a:ea typeface="Calibri Light"/>
                <a:cs typeface="Calibri Light"/>
              </a:rPr>
            </a:br>
            <a:r>
              <a:rPr lang="en-US" sz="5400">
                <a:solidFill>
                  <a:schemeClr val="tx2"/>
                </a:solidFill>
                <a:latin typeface="Calibri Light"/>
                <a:ea typeface="Calibri Light"/>
                <a:cs typeface="Calibri Light"/>
              </a:rPr>
              <a:t>Smart Modular Indoor Farming Pods</a:t>
            </a:r>
          </a:p>
        </p:txBody>
      </p:sp>
      <p:sp>
        <p:nvSpPr>
          <p:cNvPr id="3" name="Subtitle 2"/>
          <p:cNvSpPr>
            <a:spLocks noGrp="1"/>
          </p:cNvSpPr>
          <p:nvPr>
            <p:ph type="subTitle" idx="1"/>
          </p:nvPr>
        </p:nvSpPr>
        <p:spPr>
          <a:xfrm>
            <a:off x="5297760" y="4636008"/>
            <a:ext cx="6251111" cy="1572768"/>
          </a:xfrm>
        </p:spPr>
        <p:txBody>
          <a:bodyPr vert="horz" lIns="91440" tIns="45720" rIns="91440" bIns="45720" rtlCol="0" anchor="t">
            <a:normAutofit/>
          </a:bodyPr>
          <a:lstStyle/>
          <a:p>
            <a:pPr algn="l"/>
            <a:r>
              <a:rPr lang="en-US" sz="2000" dirty="0">
                <a:solidFill>
                  <a:schemeClr val="tx2"/>
                </a:solidFill>
                <a:latin typeface="Calibri Light"/>
                <a:ea typeface="Calibri Light"/>
                <a:cs typeface="Calibri Light"/>
              </a:rPr>
              <a:t>Group 4</a:t>
            </a:r>
          </a:p>
          <a:p>
            <a:pPr algn="l"/>
            <a:r>
              <a:rPr lang="en-US" sz="2000" dirty="0">
                <a:solidFill>
                  <a:schemeClr val="tx2"/>
                </a:solidFill>
                <a:latin typeface="Calibri Light"/>
                <a:ea typeface="Calibri Light"/>
                <a:cs typeface="Calibri Light"/>
              </a:rPr>
              <a:t>Danyelle Veillard | Shamsheer Hussain | Ashwini </a:t>
            </a:r>
            <a:r>
              <a:rPr lang="en-US" sz="2000" dirty="0" err="1">
                <a:solidFill>
                  <a:schemeClr val="tx2"/>
                </a:solidFill>
                <a:latin typeface="Calibri Light"/>
                <a:ea typeface="Calibri Light"/>
                <a:cs typeface="Calibri Light"/>
              </a:rPr>
              <a:t>Mahadevaswamy</a:t>
            </a:r>
            <a:r>
              <a:rPr lang="en-US" sz="2000" dirty="0">
                <a:solidFill>
                  <a:schemeClr val="tx2"/>
                </a:solidFill>
                <a:latin typeface="Calibri Light"/>
                <a:ea typeface="Calibri Light"/>
                <a:cs typeface="Calibri Light"/>
              </a:rPr>
              <a:t> |Mohit </a:t>
            </a:r>
            <a:r>
              <a:rPr lang="en-US" sz="2000" dirty="0" err="1">
                <a:solidFill>
                  <a:schemeClr val="tx2"/>
                </a:solidFill>
                <a:latin typeface="Calibri Light"/>
                <a:ea typeface="Calibri Light"/>
                <a:cs typeface="Calibri Light"/>
              </a:rPr>
              <a:t>Athipedu</a:t>
            </a:r>
            <a:r>
              <a:rPr lang="en-US" sz="2000" dirty="0">
                <a:solidFill>
                  <a:schemeClr val="tx2"/>
                </a:solidFill>
                <a:latin typeface="Calibri Light"/>
                <a:ea typeface="Calibri Light"/>
                <a:cs typeface="Calibri Light"/>
              </a:rPr>
              <a:t> | Madison Rogers</a:t>
            </a:r>
          </a:p>
        </p:txBody>
      </p:sp>
      <p:pic>
        <p:nvPicPr>
          <p:cNvPr id="8" name="Picture 7" descr="Hexagon wall decor">
            <a:extLst>
              <a:ext uri="{FF2B5EF4-FFF2-40B4-BE49-F238E27FC236}">
                <a16:creationId xmlns:a16="http://schemas.microsoft.com/office/drawing/2014/main" id="{18BC48BA-1F86-6E43-3F68-F7F7E8498148}"/>
              </a:ext>
            </a:extLst>
          </p:cNvPr>
          <p:cNvPicPr>
            <a:picLocks noChangeAspect="1"/>
          </p:cNvPicPr>
          <p:nvPr/>
        </p:nvPicPr>
        <p:blipFill>
          <a:blip r:embed="rId3"/>
          <a:srcRect l="3555" r="9658"/>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5"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5C776EE-894B-AE37-CEE1-4DB18B26BBBC}"/>
              </a:ext>
            </a:extLst>
          </p:cNvPr>
          <p:cNvSpPr>
            <a:spLocks noGrp="1"/>
          </p:cNvSpPr>
          <p:nvPr>
            <p:ph type="title"/>
          </p:nvPr>
        </p:nvSpPr>
        <p:spPr>
          <a:xfrm>
            <a:off x="115277" y="111125"/>
            <a:ext cx="3703285" cy="534256"/>
          </a:xfrm>
        </p:spPr>
        <p:txBody>
          <a:bodyPr>
            <a:noAutofit/>
          </a:bodyPr>
          <a:lstStyle/>
          <a:p>
            <a:r>
              <a:rPr lang="en-US" sz="3600" b="1">
                <a:latin typeface="Calibri Light"/>
                <a:ea typeface="Calibri Light"/>
                <a:cs typeface="Calibri Light"/>
              </a:rPr>
              <a:t>Project Objective</a:t>
            </a:r>
          </a:p>
        </p:txBody>
      </p:sp>
      <p:sp>
        <p:nvSpPr>
          <p:cNvPr id="3" name="Content Placeholder 2">
            <a:extLst>
              <a:ext uri="{FF2B5EF4-FFF2-40B4-BE49-F238E27FC236}">
                <a16:creationId xmlns:a16="http://schemas.microsoft.com/office/drawing/2014/main" id="{62DEF09C-D10D-EBE0-BB53-F1DB72329E4B}"/>
              </a:ext>
            </a:extLst>
          </p:cNvPr>
          <p:cNvSpPr>
            <a:spLocks noGrp="1"/>
          </p:cNvSpPr>
          <p:nvPr>
            <p:ph idx="1"/>
          </p:nvPr>
        </p:nvSpPr>
        <p:spPr>
          <a:xfrm>
            <a:off x="115277" y="760779"/>
            <a:ext cx="6262822" cy="5963261"/>
          </a:xfrm>
        </p:spPr>
        <p:txBody>
          <a:bodyPr vert="horz" lIns="91440" tIns="45720" rIns="91440" bIns="45720" rtlCol="0" anchor="t">
            <a:noAutofit/>
          </a:bodyPr>
          <a:lstStyle/>
          <a:p>
            <a:r>
              <a:rPr lang="en-US">
                <a:latin typeface="Calibri Light"/>
                <a:ea typeface="Calibri Light"/>
                <a:cs typeface="Calibri Light"/>
              </a:rPr>
              <a:t>Prove a project plan for an indoor farming pod that enables urban residents to grow fresh herbs, greens, and small vegetables.</a:t>
            </a:r>
          </a:p>
          <a:p>
            <a:r>
              <a:rPr lang="en-US">
                <a:latin typeface="Calibri Light"/>
                <a:ea typeface="Calibri Light"/>
                <a:cs typeface="Calibri Light"/>
              </a:rPr>
              <a:t>Desig</a:t>
            </a:r>
            <a:r>
              <a:rPr lang="en-US" sz="3000">
                <a:latin typeface="Calibri Light"/>
                <a:ea typeface="Calibri Light"/>
                <a:cs typeface="Calibri Light"/>
              </a:rPr>
              <a:t>n compact, modular pods, with simple IoT sensors (water, light, humidity)</a:t>
            </a:r>
          </a:p>
          <a:p>
            <a:r>
              <a:rPr lang="en-US" sz="3000">
                <a:latin typeface="Calibri Light"/>
                <a:ea typeface="Calibri Light"/>
                <a:cs typeface="Calibri Light"/>
              </a:rPr>
              <a:t>Develop a companion mobile app for plant monitoring, health guidance, and harvest timing.</a:t>
            </a:r>
          </a:p>
          <a:p>
            <a:r>
              <a:rPr lang="en-US" sz="3000">
                <a:latin typeface="Calibri Light"/>
                <a:ea typeface="Calibri Light"/>
                <a:cs typeface="Calibri Light"/>
              </a:rPr>
              <a:t>Complete research, design, and prototype mockups within 10-12 week timeline.</a:t>
            </a:r>
          </a:p>
        </p:txBody>
      </p:sp>
      <p:pic>
        <p:nvPicPr>
          <p:cNvPr id="23" name="Picture 22" descr="8 Best Indoor Garden Systems of 2025 | NBC Select">
            <a:extLst>
              <a:ext uri="{FF2B5EF4-FFF2-40B4-BE49-F238E27FC236}">
                <a16:creationId xmlns:a16="http://schemas.microsoft.com/office/drawing/2014/main" id="{2748B758-0C77-6CE5-3B39-73771ECA3356}"/>
              </a:ext>
            </a:extLst>
          </p:cNvPr>
          <p:cNvPicPr>
            <a:picLocks noChangeAspect="1"/>
          </p:cNvPicPr>
          <p:nvPr/>
        </p:nvPicPr>
        <p:blipFill>
          <a:blip r:embed="rId3"/>
          <a:srcRect l="32474" r="17526" b="-1"/>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38"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772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F7F810-33B4-300B-A993-5E3E96DAB844}"/>
              </a:ext>
            </a:extLst>
          </p:cNvPr>
          <p:cNvSpPr/>
          <p:nvPr/>
        </p:nvSpPr>
        <p:spPr>
          <a:xfrm>
            <a:off x="-2" y="1765"/>
            <a:ext cx="4695472" cy="6840361"/>
          </a:xfrm>
          <a:prstGeom prst="rect">
            <a:avLst/>
          </a:prstGeom>
          <a:solidFill>
            <a:srgbClr val="C3D9D4"/>
          </a:solidFill>
          <a:ln w="28575">
            <a:solidFill>
              <a:srgbClr val="91CC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8B1EC6-77D5-9DCB-00DA-11F0FA6E5706}"/>
              </a:ext>
            </a:extLst>
          </p:cNvPr>
          <p:cNvSpPr>
            <a:spLocks noGrp="1"/>
          </p:cNvSpPr>
          <p:nvPr>
            <p:ph type="title"/>
          </p:nvPr>
        </p:nvSpPr>
        <p:spPr>
          <a:xfrm>
            <a:off x="-4063" y="102773"/>
            <a:ext cx="4594195" cy="1393405"/>
          </a:xfrm>
        </p:spPr>
        <p:txBody>
          <a:bodyPr anchor="b">
            <a:normAutofit/>
          </a:bodyPr>
          <a:lstStyle/>
          <a:p>
            <a:r>
              <a:rPr lang="en-US" sz="3600" b="1">
                <a:solidFill>
                  <a:schemeClr val="tx2"/>
                </a:solidFill>
                <a:latin typeface="Calibri Light"/>
                <a:ea typeface="Calibri Light"/>
                <a:cs typeface="Calibri Light"/>
              </a:rPr>
              <a:t>Project Organization</a:t>
            </a:r>
          </a:p>
        </p:txBody>
      </p:sp>
      <p:sp>
        <p:nvSpPr>
          <p:cNvPr id="3" name="Content Placeholder 2">
            <a:extLst>
              <a:ext uri="{FF2B5EF4-FFF2-40B4-BE49-F238E27FC236}">
                <a16:creationId xmlns:a16="http://schemas.microsoft.com/office/drawing/2014/main" id="{D38CD8CA-BE6C-8772-0E54-7C8B759303EE}"/>
              </a:ext>
            </a:extLst>
          </p:cNvPr>
          <p:cNvSpPr>
            <a:spLocks noGrp="1"/>
          </p:cNvSpPr>
          <p:nvPr>
            <p:ph idx="1"/>
          </p:nvPr>
        </p:nvSpPr>
        <p:spPr>
          <a:xfrm>
            <a:off x="-7659" y="1713288"/>
            <a:ext cx="4741343" cy="4231719"/>
          </a:xfrm>
          <a:ln>
            <a:solidFill>
              <a:srgbClr val="C9E1CE"/>
            </a:solidFill>
          </a:ln>
        </p:spPr>
        <p:txBody>
          <a:bodyPr vert="horz" lIns="91440" tIns="45720" rIns="91440" bIns="45720" rtlCol="0" anchor="t">
            <a:normAutofit/>
          </a:bodyPr>
          <a:lstStyle/>
          <a:p>
            <a:pPr marL="0" indent="0">
              <a:buNone/>
            </a:pPr>
            <a:r>
              <a:rPr lang="en-US" sz="3000">
                <a:solidFill>
                  <a:schemeClr val="tx2"/>
                </a:solidFill>
                <a:latin typeface="Calibri Light"/>
                <a:ea typeface="Calibri Light"/>
                <a:cs typeface="Calibri Light"/>
              </a:rPr>
              <a:t>Supporting Tools:</a:t>
            </a:r>
          </a:p>
          <a:p>
            <a:r>
              <a:rPr lang="en-US" sz="3000">
                <a:solidFill>
                  <a:schemeClr val="tx2"/>
                </a:solidFill>
                <a:latin typeface="Calibri Light"/>
                <a:ea typeface="Calibri Light"/>
                <a:cs typeface="Calibri Light"/>
              </a:rPr>
              <a:t>WBS, Responsibility Chart, Gantt Chart</a:t>
            </a:r>
          </a:p>
          <a:p>
            <a:r>
              <a:rPr lang="en-US" sz="3000">
                <a:solidFill>
                  <a:schemeClr val="tx2"/>
                </a:solidFill>
                <a:latin typeface="Calibri Light"/>
                <a:ea typeface="Calibri Light"/>
                <a:cs typeface="Calibri Light"/>
              </a:rPr>
              <a:t>Shared documentation: OneDrive/Google Drive</a:t>
            </a:r>
          </a:p>
          <a:p>
            <a:r>
              <a:rPr lang="en-US" sz="3000">
                <a:solidFill>
                  <a:schemeClr val="tx2"/>
                </a:solidFill>
                <a:latin typeface="Calibri Light"/>
                <a:ea typeface="Calibri Light"/>
                <a:cs typeface="Calibri Light"/>
              </a:rPr>
              <a:t>PM Tools: Trello, MS Project</a:t>
            </a:r>
          </a:p>
        </p:txBody>
      </p:sp>
      <p:pic>
        <p:nvPicPr>
          <p:cNvPr id="5" name="Picture 4" descr="A diagram of software and environmental systems&#10;&#10;AI-generated content may be incorrect.">
            <a:extLst>
              <a:ext uri="{FF2B5EF4-FFF2-40B4-BE49-F238E27FC236}">
                <a16:creationId xmlns:a16="http://schemas.microsoft.com/office/drawing/2014/main" id="{898333BC-55CC-8F03-6969-6DA8490CC954}"/>
              </a:ext>
            </a:extLst>
          </p:cNvPr>
          <p:cNvPicPr>
            <a:picLocks noChangeAspect="1"/>
          </p:cNvPicPr>
          <p:nvPr/>
        </p:nvPicPr>
        <p:blipFill>
          <a:blip r:embed="rId3"/>
          <a:stretch>
            <a:fillRect/>
          </a:stretch>
        </p:blipFill>
        <p:spPr>
          <a:xfrm>
            <a:off x="4744383" y="1378377"/>
            <a:ext cx="7448632" cy="4157688"/>
          </a:xfrm>
          <a:prstGeom prst="rect">
            <a:avLst/>
          </a:prstGeom>
        </p:spPr>
      </p:pic>
    </p:spTree>
    <p:extLst>
      <p:ext uri="{BB962C8B-B14F-4D97-AF65-F5344CB8AC3E}">
        <p14:creationId xmlns:p14="http://schemas.microsoft.com/office/powerpoint/2010/main" val="1115948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4DD812-7938-EE88-A219-B1DE8888EC8D}"/>
              </a:ext>
            </a:extLst>
          </p:cNvPr>
          <p:cNvPicPr>
            <a:picLocks noChangeAspect="1"/>
          </p:cNvPicPr>
          <p:nvPr/>
        </p:nvPicPr>
        <p:blipFill>
          <a:blip r:embed="rId2"/>
          <a:stretch>
            <a:fillRect/>
          </a:stretch>
        </p:blipFill>
        <p:spPr>
          <a:xfrm>
            <a:off x="4420989" y="2914119"/>
            <a:ext cx="7771852" cy="3941495"/>
          </a:xfrm>
          <a:prstGeom prst="rect">
            <a:avLst/>
          </a:prstGeom>
        </p:spPr>
      </p:pic>
      <p:sp>
        <p:nvSpPr>
          <p:cNvPr id="3" name="Rectangle 2">
            <a:extLst>
              <a:ext uri="{FF2B5EF4-FFF2-40B4-BE49-F238E27FC236}">
                <a16:creationId xmlns:a16="http://schemas.microsoft.com/office/drawing/2014/main" id="{2040525C-75E9-2A53-CD0F-118D28098BC8}"/>
              </a:ext>
            </a:extLst>
          </p:cNvPr>
          <p:cNvSpPr/>
          <p:nvPr/>
        </p:nvSpPr>
        <p:spPr>
          <a:xfrm>
            <a:off x="-1" y="-3527"/>
            <a:ext cx="4663722" cy="6861528"/>
          </a:xfrm>
          <a:prstGeom prst="rect">
            <a:avLst/>
          </a:prstGeom>
          <a:solidFill>
            <a:srgbClr val="C3D9D4"/>
          </a:solidFill>
          <a:ln w="28575">
            <a:solidFill>
              <a:srgbClr val="91CC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A49804-1CF2-440C-C25B-24F4028E411B}"/>
              </a:ext>
            </a:extLst>
          </p:cNvPr>
          <p:cNvSpPr>
            <a:spLocks noGrp="1"/>
          </p:cNvSpPr>
          <p:nvPr>
            <p:ph type="title"/>
          </p:nvPr>
        </p:nvSpPr>
        <p:spPr>
          <a:xfrm>
            <a:off x="70726" y="5291"/>
            <a:ext cx="4213146" cy="941561"/>
          </a:xfrm>
        </p:spPr>
        <p:txBody>
          <a:bodyPr>
            <a:normAutofit/>
          </a:bodyPr>
          <a:lstStyle/>
          <a:p>
            <a:pPr algn="ctr"/>
            <a:r>
              <a:rPr lang="en-US" sz="3600" b="1">
                <a:solidFill>
                  <a:schemeClr val="tx2"/>
                </a:solidFill>
                <a:latin typeface="Calibri Light"/>
                <a:ea typeface="Calibri Light"/>
                <a:cs typeface="Calibri Light"/>
              </a:rPr>
              <a:t>Implementation Plan</a:t>
            </a:r>
            <a:endParaRPr lang="en-US" sz="3600" b="1">
              <a:solidFill>
                <a:schemeClr val="tx2"/>
              </a:solidFill>
            </a:endParaRPr>
          </a:p>
        </p:txBody>
      </p:sp>
      <p:pic>
        <p:nvPicPr>
          <p:cNvPr id="4" name="Content Placeholder 3" descr="A screenshot of a project&#10;&#10;AI-generated content may be incorrect.">
            <a:extLst>
              <a:ext uri="{FF2B5EF4-FFF2-40B4-BE49-F238E27FC236}">
                <a16:creationId xmlns:a16="http://schemas.microsoft.com/office/drawing/2014/main" id="{A8713DA5-825A-B971-4FFC-EE73C8D6F335}"/>
              </a:ext>
            </a:extLst>
          </p:cNvPr>
          <p:cNvPicPr>
            <a:picLocks noGrp="1" noChangeAspect="1"/>
          </p:cNvPicPr>
          <p:nvPr>
            <p:ph idx="1"/>
          </p:nvPr>
        </p:nvPicPr>
        <p:blipFill>
          <a:blip r:embed="rId3"/>
          <a:srcRect t="207" r="123" b="60204"/>
          <a:stretch>
            <a:fillRect/>
          </a:stretch>
        </p:blipFill>
        <p:spPr>
          <a:xfrm>
            <a:off x="4757715" y="112889"/>
            <a:ext cx="7282895" cy="2799828"/>
          </a:xfrm>
          <a:prstGeom prst="rect">
            <a:avLst/>
          </a:prstGeom>
        </p:spPr>
      </p:pic>
      <p:sp>
        <p:nvSpPr>
          <p:cNvPr id="6" name="Title 1">
            <a:extLst>
              <a:ext uri="{FF2B5EF4-FFF2-40B4-BE49-F238E27FC236}">
                <a16:creationId xmlns:a16="http://schemas.microsoft.com/office/drawing/2014/main" id="{17873646-326D-34DF-485B-EC147A64A08A}"/>
              </a:ext>
            </a:extLst>
          </p:cNvPr>
          <p:cNvSpPr txBox="1">
            <a:spLocks/>
          </p:cNvSpPr>
          <p:nvPr/>
        </p:nvSpPr>
        <p:spPr>
          <a:xfrm>
            <a:off x="73835" y="778535"/>
            <a:ext cx="4597673" cy="5491662"/>
          </a:xfrm>
          <a:prstGeom prst="rect">
            <a:avLst/>
          </a:prstGeom>
          <a:ln>
            <a:solidFill>
              <a:srgbClr val="C9E1CE"/>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200">
                <a:solidFill>
                  <a:schemeClr val="tx2"/>
                </a:solidFill>
                <a:latin typeface="Calibri Light"/>
                <a:ea typeface="Calibri Light"/>
                <a:cs typeface="Calibri Light"/>
              </a:rPr>
              <a:t>Phase 1 (Weeks 1-3)</a:t>
            </a:r>
          </a:p>
          <a:p>
            <a:pPr marL="285750" indent="-285750">
              <a:buFont typeface="Arial"/>
              <a:buChar char="•"/>
            </a:pPr>
            <a:r>
              <a:rPr lang="en-US" sz="2200">
                <a:solidFill>
                  <a:schemeClr val="tx2"/>
                </a:solidFill>
                <a:latin typeface="Calibri Light"/>
                <a:ea typeface="Calibri Light"/>
                <a:cs typeface="Calibri Light"/>
              </a:rPr>
              <a:t>Market Research, feasibility study, technical requirements defined</a:t>
            </a:r>
          </a:p>
          <a:p>
            <a:r>
              <a:rPr lang="en-US" sz="2200">
                <a:solidFill>
                  <a:schemeClr val="tx2"/>
                </a:solidFill>
                <a:latin typeface="Calibri Light"/>
                <a:ea typeface="Calibri Light"/>
                <a:cs typeface="Calibri Light"/>
              </a:rPr>
              <a:t>Phase 2 (Weeks 4-6)</a:t>
            </a:r>
          </a:p>
          <a:p>
            <a:pPr marL="285750" indent="-285750">
              <a:buFont typeface="Arial"/>
              <a:buChar char="•"/>
            </a:pPr>
            <a:r>
              <a:rPr lang="en-US" sz="2200">
                <a:solidFill>
                  <a:schemeClr val="tx2"/>
                </a:solidFill>
                <a:latin typeface="Calibri Light"/>
                <a:ea typeface="Calibri Light"/>
                <a:cs typeface="Calibri Light"/>
              </a:rPr>
              <a:t>Pod CAD design, sensor selection, wiring plan.</a:t>
            </a:r>
          </a:p>
          <a:p>
            <a:pPr marL="285750" indent="-285750">
              <a:buFont typeface="Arial"/>
              <a:buChar char="•"/>
            </a:pPr>
            <a:r>
              <a:rPr lang="en-US" sz="2200">
                <a:solidFill>
                  <a:schemeClr val="tx2"/>
                </a:solidFill>
                <a:latin typeface="Calibri Light"/>
                <a:ea typeface="Calibri Light"/>
                <a:cs typeface="Calibri Light"/>
              </a:rPr>
              <a:t>App mockups and basic interface structure.</a:t>
            </a:r>
          </a:p>
          <a:p>
            <a:r>
              <a:rPr lang="en-US" sz="2200">
                <a:solidFill>
                  <a:schemeClr val="tx2"/>
                </a:solidFill>
                <a:latin typeface="Calibri Light"/>
                <a:ea typeface="Calibri Light"/>
                <a:cs typeface="Calibri Light"/>
              </a:rPr>
              <a:t>Phase 3 (Weeks 7-9)</a:t>
            </a:r>
          </a:p>
          <a:p>
            <a:pPr marL="285750" indent="-285750">
              <a:buFont typeface="Arial"/>
              <a:buChar char="•"/>
            </a:pPr>
            <a:r>
              <a:rPr lang="en-US" sz="2200">
                <a:solidFill>
                  <a:schemeClr val="tx2"/>
                </a:solidFill>
                <a:latin typeface="Calibri Light"/>
                <a:ea typeface="Calibri Light"/>
                <a:cs typeface="Calibri Light"/>
              </a:rPr>
              <a:t>Prototype build or mockup of pod.</a:t>
            </a:r>
          </a:p>
          <a:p>
            <a:pPr marL="285750" indent="-285750">
              <a:buFont typeface="Arial"/>
              <a:buChar char="•"/>
            </a:pPr>
            <a:r>
              <a:rPr lang="en-US" sz="2200">
                <a:solidFill>
                  <a:schemeClr val="tx2"/>
                </a:solidFill>
                <a:latin typeface="Calibri Light"/>
                <a:ea typeface="Calibri Light"/>
                <a:cs typeface="Calibri Light"/>
              </a:rPr>
              <a:t>Sensor testing and initial app data display</a:t>
            </a:r>
          </a:p>
          <a:p>
            <a:r>
              <a:rPr lang="en-US" sz="2200">
                <a:solidFill>
                  <a:schemeClr val="tx2"/>
                </a:solidFill>
                <a:latin typeface="Calibri Light"/>
                <a:ea typeface="Calibri Light"/>
                <a:cs typeface="Calibri Light"/>
              </a:rPr>
              <a:t>Phase 4 (Weeks 10-12)</a:t>
            </a:r>
          </a:p>
          <a:p>
            <a:pPr marL="285750" indent="-285750">
              <a:buFont typeface="Arial"/>
              <a:buChar char="•"/>
            </a:pPr>
            <a:r>
              <a:rPr lang="en-US" sz="2200">
                <a:solidFill>
                  <a:schemeClr val="tx2"/>
                </a:solidFill>
                <a:latin typeface="Calibri Light"/>
                <a:ea typeface="Calibri Light"/>
                <a:cs typeface="Calibri Light"/>
              </a:rPr>
              <a:t>Integrated testing (hardware + app), user feedback, improvements</a:t>
            </a:r>
          </a:p>
          <a:p>
            <a:pPr marL="285750" indent="-285750">
              <a:buFont typeface="Arial"/>
              <a:buChar char="•"/>
            </a:pPr>
            <a:r>
              <a:rPr lang="en-US" sz="2200">
                <a:solidFill>
                  <a:schemeClr val="tx2"/>
                </a:solidFill>
                <a:latin typeface="Calibri Light"/>
                <a:ea typeface="Calibri Light"/>
                <a:cs typeface="Calibri Light"/>
              </a:rPr>
              <a:t>Final report and presentation</a:t>
            </a:r>
          </a:p>
        </p:txBody>
      </p:sp>
    </p:spTree>
    <p:extLst>
      <p:ext uri="{BB962C8B-B14F-4D97-AF65-F5344CB8AC3E}">
        <p14:creationId xmlns:p14="http://schemas.microsoft.com/office/powerpoint/2010/main" val="2897903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509C5E-5662-CCC3-5404-6B2DDFF0A55A}"/>
              </a:ext>
            </a:extLst>
          </p:cNvPr>
          <p:cNvSpPr/>
          <p:nvPr/>
        </p:nvSpPr>
        <p:spPr>
          <a:xfrm>
            <a:off x="2788" y="-1542"/>
            <a:ext cx="12189627" cy="1458483"/>
          </a:xfrm>
          <a:prstGeom prst="rect">
            <a:avLst/>
          </a:prstGeom>
          <a:solidFill>
            <a:srgbClr val="C3D9D4"/>
          </a:solidFill>
          <a:ln w="28575">
            <a:solidFill>
              <a:srgbClr val="91CC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hart with red green and yellow squares&#10;&#10;AI-generated content may be incorrect.">
            <a:extLst>
              <a:ext uri="{FF2B5EF4-FFF2-40B4-BE49-F238E27FC236}">
                <a16:creationId xmlns:a16="http://schemas.microsoft.com/office/drawing/2014/main" id="{370BC783-9537-444F-D306-C969CAE70FCF}"/>
              </a:ext>
            </a:extLst>
          </p:cNvPr>
          <p:cNvPicPr>
            <a:picLocks noChangeAspect="1"/>
          </p:cNvPicPr>
          <p:nvPr/>
        </p:nvPicPr>
        <p:blipFill>
          <a:blip r:embed="rId2"/>
          <a:stretch>
            <a:fillRect/>
          </a:stretch>
        </p:blipFill>
        <p:spPr>
          <a:xfrm>
            <a:off x="4149846" y="1743822"/>
            <a:ext cx="7911042" cy="3854098"/>
          </a:xfrm>
          <a:prstGeom prst="rect">
            <a:avLst/>
          </a:prstGeom>
        </p:spPr>
      </p:pic>
      <p:sp>
        <p:nvSpPr>
          <p:cNvPr id="2" name="Title 1">
            <a:extLst>
              <a:ext uri="{FF2B5EF4-FFF2-40B4-BE49-F238E27FC236}">
                <a16:creationId xmlns:a16="http://schemas.microsoft.com/office/drawing/2014/main" id="{17AA07C5-0175-941F-3DAA-5D32E786C906}"/>
              </a:ext>
            </a:extLst>
          </p:cNvPr>
          <p:cNvSpPr>
            <a:spLocks noGrp="1"/>
          </p:cNvSpPr>
          <p:nvPr>
            <p:ph type="title"/>
          </p:nvPr>
        </p:nvSpPr>
        <p:spPr>
          <a:xfrm>
            <a:off x="838200" y="365125"/>
            <a:ext cx="4163466" cy="1037412"/>
          </a:xfrm>
        </p:spPr>
        <p:txBody>
          <a:bodyPr/>
          <a:lstStyle/>
          <a:p>
            <a:r>
              <a:rPr lang="en-US">
                <a:solidFill>
                  <a:schemeClr val="tx2"/>
                </a:solidFill>
                <a:latin typeface="Calibri Light"/>
                <a:ea typeface="Calibri Light"/>
                <a:cs typeface="Calibri Light"/>
              </a:rPr>
              <a:t>Risk Analysis</a:t>
            </a:r>
          </a:p>
        </p:txBody>
      </p:sp>
      <p:sp>
        <p:nvSpPr>
          <p:cNvPr id="3" name="Content Placeholder 2">
            <a:extLst>
              <a:ext uri="{FF2B5EF4-FFF2-40B4-BE49-F238E27FC236}">
                <a16:creationId xmlns:a16="http://schemas.microsoft.com/office/drawing/2014/main" id="{12551D3E-45F9-8F8B-9759-2E00ECB07E65}"/>
              </a:ext>
            </a:extLst>
          </p:cNvPr>
          <p:cNvSpPr>
            <a:spLocks noGrp="1"/>
          </p:cNvSpPr>
          <p:nvPr>
            <p:ph idx="1"/>
          </p:nvPr>
        </p:nvSpPr>
        <p:spPr>
          <a:xfrm>
            <a:off x="470338" y="1562866"/>
            <a:ext cx="4031057" cy="4745476"/>
          </a:xfrm>
          <a:solidFill>
            <a:schemeClr val="bg1"/>
          </a:solidFill>
          <a:ln>
            <a:noFill/>
          </a:ln>
        </p:spPr>
        <p:txBody>
          <a:bodyPr vert="horz" lIns="91440" tIns="45720" rIns="91440" bIns="45720" rtlCol="0" anchor="t">
            <a:noAutofit/>
          </a:bodyPr>
          <a:lstStyle/>
          <a:p>
            <a:pPr marL="0" indent="0">
              <a:buNone/>
            </a:pPr>
            <a:r>
              <a:rPr lang="en-US" sz="1800" b="1">
                <a:solidFill>
                  <a:schemeClr val="tx2"/>
                </a:solidFill>
                <a:latin typeface="Calibri Light"/>
                <a:ea typeface="Calibri Light"/>
                <a:cs typeface="Calibri Light"/>
              </a:rPr>
              <a:t>Top Risks Identified</a:t>
            </a:r>
          </a:p>
          <a:p>
            <a:pPr marL="457200" indent="-457200">
              <a:buAutoNum type="arabicPeriod"/>
            </a:pPr>
            <a:r>
              <a:rPr lang="en-US" sz="1800">
                <a:solidFill>
                  <a:schemeClr val="tx2"/>
                </a:solidFill>
                <a:latin typeface="Calibri Light"/>
                <a:ea typeface="Calibri Light"/>
                <a:cs typeface="Calibri Light"/>
              </a:rPr>
              <a:t>Sensor delays/fault components</a:t>
            </a:r>
          </a:p>
          <a:p>
            <a:pPr marL="457200" indent="-457200">
              <a:buAutoNum type="arabicPeriod"/>
            </a:pPr>
            <a:r>
              <a:rPr lang="en-US" sz="1800">
                <a:solidFill>
                  <a:schemeClr val="tx2"/>
                </a:solidFill>
                <a:latin typeface="Calibri Light"/>
                <a:ea typeface="Calibri Light"/>
                <a:cs typeface="Calibri Light"/>
              </a:rPr>
              <a:t>Microcontroller/electronics issues</a:t>
            </a:r>
          </a:p>
          <a:p>
            <a:pPr marL="457200" indent="-457200">
              <a:buAutoNum type="arabicPeriod"/>
            </a:pPr>
            <a:r>
              <a:rPr lang="en-US" sz="1800">
                <a:solidFill>
                  <a:schemeClr val="tx2"/>
                </a:solidFill>
                <a:latin typeface="Calibri Light"/>
                <a:ea typeface="Calibri Light"/>
                <a:cs typeface="Calibri Light"/>
              </a:rPr>
              <a:t>Prototype rework or redesign</a:t>
            </a:r>
          </a:p>
          <a:p>
            <a:pPr marL="457200" indent="-457200">
              <a:buAutoNum type="arabicPeriod"/>
            </a:pPr>
            <a:r>
              <a:rPr lang="en-US" sz="1800">
                <a:solidFill>
                  <a:schemeClr val="tx2"/>
                </a:solidFill>
                <a:latin typeface="Calibri Light"/>
                <a:ea typeface="Calibri Light"/>
                <a:cs typeface="Calibri Light"/>
              </a:rPr>
              <a:t>Connectivity failures (IoT/Wi-Fi)</a:t>
            </a:r>
          </a:p>
          <a:p>
            <a:pPr marL="457200" indent="-457200">
              <a:buAutoNum type="arabicPeriod"/>
            </a:pPr>
            <a:r>
              <a:rPr lang="en-US" sz="1800">
                <a:solidFill>
                  <a:schemeClr val="tx2"/>
                </a:solidFill>
                <a:latin typeface="Calibri Light"/>
                <a:ea typeface="Calibri Light"/>
                <a:cs typeface="Calibri Light"/>
              </a:rPr>
              <a:t>App integration issues</a:t>
            </a:r>
          </a:p>
          <a:p>
            <a:pPr marL="457200" indent="-457200">
              <a:buAutoNum type="arabicPeriod"/>
            </a:pPr>
            <a:r>
              <a:rPr lang="en-US" sz="1800">
                <a:solidFill>
                  <a:schemeClr val="tx2"/>
                </a:solidFill>
                <a:latin typeface="Calibri Light"/>
                <a:ea typeface="Calibri Light"/>
                <a:cs typeface="Calibri Light"/>
              </a:rPr>
              <a:t>Plant growth variability</a:t>
            </a:r>
          </a:p>
          <a:p>
            <a:pPr marL="457200" indent="-457200">
              <a:buAutoNum type="arabicPeriod"/>
            </a:pPr>
            <a:r>
              <a:rPr lang="en-US" sz="1800">
                <a:solidFill>
                  <a:schemeClr val="tx2"/>
                </a:solidFill>
                <a:latin typeface="Calibri Light"/>
                <a:ea typeface="Calibri Light"/>
                <a:cs typeface="Calibri Light"/>
              </a:rPr>
              <a:t>User experience/ usability problems</a:t>
            </a:r>
          </a:p>
          <a:p>
            <a:pPr marL="457200" indent="-457200">
              <a:buAutoNum type="arabicPeriod"/>
            </a:pPr>
            <a:r>
              <a:rPr lang="en-US" sz="1800">
                <a:solidFill>
                  <a:schemeClr val="tx2"/>
                </a:solidFill>
                <a:latin typeface="Calibri Light"/>
                <a:ea typeface="Calibri Light"/>
                <a:cs typeface="Calibri Light"/>
              </a:rPr>
              <a:t>Budget overruns</a:t>
            </a:r>
          </a:p>
          <a:p>
            <a:pPr marL="457200" indent="-457200">
              <a:buAutoNum type="arabicPeriod"/>
            </a:pPr>
            <a:r>
              <a:rPr lang="en-US" sz="1800">
                <a:solidFill>
                  <a:schemeClr val="tx2"/>
                </a:solidFill>
                <a:latin typeface="Calibri Light"/>
                <a:ea typeface="Calibri Light"/>
                <a:cs typeface="Calibri Light"/>
              </a:rPr>
              <a:t>Data loss/ logging failures</a:t>
            </a:r>
          </a:p>
          <a:p>
            <a:pPr marL="457200" indent="-457200">
              <a:buAutoNum type="arabicPeriod"/>
            </a:pPr>
            <a:r>
              <a:rPr lang="en-US" sz="1800">
                <a:solidFill>
                  <a:schemeClr val="tx2"/>
                </a:solidFill>
                <a:latin typeface="Calibri Light"/>
                <a:ea typeface="Calibri Light"/>
                <a:cs typeface="Calibri Light"/>
              </a:rPr>
              <a:t>Team availability issues</a:t>
            </a:r>
          </a:p>
          <a:p>
            <a:pPr marL="0" indent="0">
              <a:buNone/>
            </a:pPr>
            <a:endParaRPr lang="en-US" sz="1800">
              <a:solidFill>
                <a:schemeClr val="tx2"/>
              </a:solidFill>
              <a:latin typeface="Calibri Light"/>
              <a:ea typeface="Calibri Light"/>
              <a:cs typeface="Calibri Light"/>
            </a:endParaRPr>
          </a:p>
          <a:p>
            <a:pPr>
              <a:buAutoNum type="arabicPeriod"/>
            </a:pPr>
            <a:endParaRPr lang="en-US" sz="1800">
              <a:solidFill>
                <a:schemeClr val="tx2"/>
              </a:solidFill>
              <a:latin typeface="Calibri Light"/>
              <a:ea typeface="Calibri Light"/>
              <a:cs typeface="Calibri Light"/>
            </a:endParaRPr>
          </a:p>
        </p:txBody>
      </p:sp>
      <p:sp>
        <p:nvSpPr>
          <p:cNvPr id="6" name="Title 1">
            <a:extLst>
              <a:ext uri="{FF2B5EF4-FFF2-40B4-BE49-F238E27FC236}">
                <a16:creationId xmlns:a16="http://schemas.microsoft.com/office/drawing/2014/main" id="{D623056B-66B0-E085-0656-0CE51859EA57}"/>
              </a:ext>
            </a:extLst>
          </p:cNvPr>
          <p:cNvSpPr txBox="1">
            <a:spLocks/>
          </p:cNvSpPr>
          <p:nvPr/>
        </p:nvSpPr>
        <p:spPr>
          <a:xfrm>
            <a:off x="353898" y="559411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tx2"/>
                </a:solidFill>
                <a:latin typeface="Calibri Light"/>
                <a:ea typeface="Calibri Light"/>
                <a:cs typeface="Calibri Light"/>
              </a:rPr>
              <a:t>Quantitative Tools</a:t>
            </a:r>
          </a:p>
          <a:p>
            <a:r>
              <a:rPr lang="en-US" sz="1800" dirty="0">
                <a:solidFill>
                  <a:schemeClr val="tx2"/>
                </a:solidFill>
                <a:latin typeface="Calibri Light"/>
                <a:ea typeface="Calibri Light"/>
                <a:cs typeface="Calibri Light"/>
              </a:rPr>
              <a:t> FMEA with Risk Priority Numbers (RPN) showed that 3. Prototype Rework/Redesign, 4. Connectivity Issues, and 5. App Integration Failure are the critical areas to focus on mitigating risk efforts on.</a:t>
            </a:r>
          </a:p>
          <a:p>
            <a:endParaRPr lang="en-US" sz="1800" dirty="0">
              <a:solidFill>
                <a:schemeClr val="tx2"/>
              </a:solidFill>
              <a:latin typeface="Calibri Light"/>
              <a:ea typeface="Calibri Light"/>
              <a:cs typeface="Calibri Light"/>
            </a:endParaRPr>
          </a:p>
        </p:txBody>
      </p:sp>
    </p:spTree>
    <p:extLst>
      <p:ext uri="{BB962C8B-B14F-4D97-AF65-F5344CB8AC3E}">
        <p14:creationId xmlns:p14="http://schemas.microsoft.com/office/powerpoint/2010/main" val="3488489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Rectangle 15">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41DFB66E-539E-88BD-6586-C2C8E8A3A491}"/>
              </a:ext>
            </a:extLst>
          </p:cNvPr>
          <p:cNvSpPr>
            <a:spLocks noGrp="1"/>
          </p:cNvSpPr>
          <p:nvPr>
            <p:ph type="title"/>
          </p:nvPr>
        </p:nvSpPr>
        <p:spPr>
          <a:xfrm>
            <a:off x="247283" y="738636"/>
            <a:ext cx="3862073" cy="978060"/>
          </a:xfrm>
          <a:prstGeom prst="roundRect">
            <a:avLst/>
          </a:prstGeom>
          <a:solidFill>
            <a:srgbClr val="C3D9D4">
              <a:alpha val="39000"/>
            </a:srgbClr>
          </a:solidFill>
          <a:ln>
            <a:solidFill>
              <a:srgbClr val="C9E1CE"/>
            </a:solidFill>
          </a:ln>
        </p:spPr>
        <p:txBody>
          <a:bodyPr>
            <a:normAutofit fontScale="90000"/>
          </a:bodyPr>
          <a:lstStyle/>
          <a:p>
            <a:r>
              <a:rPr lang="en-US" sz="3400">
                <a:solidFill>
                  <a:schemeClr val="tx2"/>
                </a:solidFill>
                <a:latin typeface="Calibri Light"/>
                <a:ea typeface="Calibri Light"/>
                <a:cs typeface="Calibri Light"/>
              </a:rPr>
              <a:t>Monitoring &amp; Control</a:t>
            </a:r>
          </a:p>
        </p:txBody>
      </p:sp>
      <p:grpSp>
        <p:nvGrpSpPr>
          <p:cNvPr id="18" name="Group 17">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sp>
          <p:nvSpPr>
            <p:cNvPr id="20" name="Freeform: Shape 19">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sp>
          <p:nvSpPr>
            <p:cNvPr id="21" name="Freeform: Shape 20">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sp>
          <p:nvSpPr>
            <p:cNvPr id="22" name="Freeform: Shape 21">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grpSp>
      <p:sp>
        <p:nvSpPr>
          <p:cNvPr id="3" name="Content Placeholder 2">
            <a:extLst>
              <a:ext uri="{FF2B5EF4-FFF2-40B4-BE49-F238E27FC236}">
                <a16:creationId xmlns:a16="http://schemas.microsoft.com/office/drawing/2014/main" id="{B1AB5692-8154-418D-B815-F324D1F0038C}"/>
              </a:ext>
            </a:extLst>
          </p:cNvPr>
          <p:cNvSpPr>
            <a:spLocks noGrp="1"/>
          </p:cNvSpPr>
          <p:nvPr>
            <p:ph idx="1"/>
          </p:nvPr>
        </p:nvSpPr>
        <p:spPr>
          <a:xfrm>
            <a:off x="5900035" y="2810"/>
            <a:ext cx="8068223" cy="6416773"/>
          </a:xfrm>
          <a:solidFill>
            <a:srgbClr val="CEE7C6">
              <a:alpha val="41000"/>
            </a:srgbClr>
          </a:solidFill>
        </p:spPr>
        <p:txBody>
          <a:bodyPr vert="horz" lIns="91440" tIns="45720" rIns="91440" bIns="45720" rtlCol="0" anchor="b">
            <a:noAutofit/>
          </a:bodyPr>
          <a:lstStyle/>
          <a:p>
            <a:pPr marL="0" indent="0">
              <a:lnSpc>
                <a:spcPct val="100000"/>
              </a:lnSpc>
              <a:buNone/>
            </a:pPr>
            <a:endParaRPr lang="en-US" sz="1800" b="1">
              <a:solidFill>
                <a:schemeClr val="tx2"/>
              </a:solidFill>
              <a:latin typeface="Calibri Light"/>
              <a:ea typeface="Calibri Light"/>
              <a:cs typeface="Calibri Light"/>
            </a:endParaRPr>
          </a:p>
          <a:p>
            <a:pPr marL="0" indent="0">
              <a:lnSpc>
                <a:spcPct val="100000"/>
              </a:lnSpc>
              <a:buNone/>
            </a:pPr>
            <a:endParaRPr lang="en-US" sz="1800" b="1">
              <a:solidFill>
                <a:schemeClr val="tx2"/>
              </a:solidFill>
              <a:latin typeface="Calibri Light"/>
              <a:ea typeface="Calibri Light"/>
              <a:cs typeface="Calibri Light"/>
            </a:endParaRPr>
          </a:p>
          <a:p>
            <a:pPr marL="0" indent="0">
              <a:lnSpc>
                <a:spcPct val="100000"/>
              </a:lnSpc>
              <a:buNone/>
            </a:pPr>
            <a:endParaRPr lang="en-US" sz="1800" b="1">
              <a:solidFill>
                <a:schemeClr val="tx2"/>
              </a:solidFill>
              <a:latin typeface="Calibri Light"/>
              <a:ea typeface="Calibri Light"/>
              <a:cs typeface="Calibri Light"/>
            </a:endParaRPr>
          </a:p>
          <a:p>
            <a:pPr marL="0" indent="0">
              <a:lnSpc>
                <a:spcPct val="100000"/>
              </a:lnSpc>
              <a:buNone/>
            </a:pPr>
            <a:r>
              <a:rPr lang="en-US" sz="1800" b="1">
                <a:solidFill>
                  <a:schemeClr val="tx2"/>
                </a:solidFill>
                <a:latin typeface="Calibri Light"/>
                <a:ea typeface="Calibri Light"/>
                <a:cs typeface="Calibri Light"/>
              </a:rPr>
              <a:t>Roles and Responsibilities</a:t>
            </a:r>
            <a:endParaRPr lang="en-US" sz="1800">
              <a:solidFill>
                <a:schemeClr val="tx2"/>
              </a:solidFill>
              <a:latin typeface="Calibri Light"/>
              <a:ea typeface="Calibri Light"/>
              <a:cs typeface="Calibri Light"/>
            </a:endParaRPr>
          </a:p>
          <a:p>
            <a:pPr marL="457200" indent="-457200">
              <a:lnSpc>
                <a:spcPct val="100000"/>
              </a:lnSpc>
            </a:pPr>
            <a:r>
              <a:rPr lang="en-US" sz="1800">
                <a:solidFill>
                  <a:schemeClr val="tx2"/>
                </a:solidFill>
                <a:latin typeface="Calibri Light"/>
                <a:ea typeface="Calibri Light"/>
                <a:cs typeface="Calibri Light"/>
              </a:rPr>
              <a:t>PM tracks schedule, milestones, issues.</a:t>
            </a:r>
          </a:p>
          <a:p>
            <a:pPr marL="457200" indent="-457200">
              <a:lnSpc>
                <a:spcPct val="100000"/>
              </a:lnSpc>
            </a:pPr>
            <a:r>
              <a:rPr lang="en-US" sz="1800">
                <a:solidFill>
                  <a:schemeClr val="tx2"/>
                </a:solidFill>
                <a:latin typeface="Calibri Light"/>
                <a:ea typeface="Calibri Light"/>
                <a:cs typeface="Calibri Light"/>
              </a:rPr>
              <a:t>Hardware Lead/Software Lead monitor build and app integration</a:t>
            </a:r>
          </a:p>
          <a:p>
            <a:pPr marL="457200" indent="-457200">
              <a:lnSpc>
                <a:spcPct val="100000"/>
              </a:lnSpc>
            </a:pPr>
            <a:r>
              <a:rPr lang="en-US" sz="1800">
                <a:solidFill>
                  <a:schemeClr val="tx2"/>
                </a:solidFill>
                <a:latin typeface="Calibri Light"/>
                <a:ea typeface="Calibri Light"/>
                <a:cs typeface="Calibri Light"/>
              </a:rPr>
              <a:t>QA Lead conducts testing and performance validation</a:t>
            </a:r>
          </a:p>
          <a:p>
            <a:pPr marL="457200" indent="-457200">
              <a:lnSpc>
                <a:spcPct val="100000"/>
              </a:lnSpc>
            </a:pPr>
            <a:r>
              <a:rPr lang="en-US" sz="1800">
                <a:solidFill>
                  <a:schemeClr val="tx2"/>
                </a:solidFill>
                <a:latin typeface="Calibri Light"/>
                <a:ea typeface="Calibri Light"/>
                <a:cs typeface="Calibri Light"/>
              </a:rPr>
              <a:t>Finance Lead monitors expenditures and budget drift.</a:t>
            </a:r>
          </a:p>
          <a:p>
            <a:pPr marL="0" indent="0">
              <a:lnSpc>
                <a:spcPct val="100000"/>
              </a:lnSpc>
              <a:buNone/>
            </a:pPr>
            <a:r>
              <a:rPr lang="en-US" sz="1800" b="1">
                <a:solidFill>
                  <a:schemeClr val="tx2"/>
                </a:solidFill>
                <a:latin typeface="Calibri Light"/>
                <a:ea typeface="Calibri Light"/>
                <a:cs typeface="Calibri Light"/>
              </a:rPr>
              <a:t>Monitoring Tools</a:t>
            </a:r>
          </a:p>
          <a:p>
            <a:pPr marL="457200" indent="-457200">
              <a:lnSpc>
                <a:spcPct val="100000"/>
              </a:lnSpc>
            </a:pPr>
            <a:r>
              <a:rPr lang="en-US" sz="1800">
                <a:solidFill>
                  <a:schemeClr val="tx2"/>
                </a:solidFill>
                <a:latin typeface="Calibri Light"/>
                <a:ea typeface="Calibri Light"/>
                <a:cs typeface="Calibri Light"/>
              </a:rPr>
              <a:t>Trello/MS Project</a:t>
            </a:r>
          </a:p>
          <a:p>
            <a:pPr marL="457200" indent="-457200">
              <a:lnSpc>
                <a:spcPct val="100000"/>
              </a:lnSpc>
            </a:pPr>
            <a:r>
              <a:rPr lang="en-US" sz="1800">
                <a:solidFill>
                  <a:schemeClr val="tx2"/>
                </a:solidFill>
                <a:latin typeface="Calibri Light"/>
                <a:ea typeface="Calibri Light"/>
                <a:cs typeface="Calibri Light"/>
              </a:rPr>
              <a:t>Gantt Charts</a:t>
            </a:r>
          </a:p>
          <a:p>
            <a:pPr marL="457200" indent="-457200">
              <a:lnSpc>
                <a:spcPct val="100000"/>
              </a:lnSpc>
            </a:pPr>
            <a:r>
              <a:rPr lang="en-US" sz="1800">
                <a:solidFill>
                  <a:schemeClr val="tx2"/>
                </a:solidFill>
                <a:latin typeface="Calibri Light"/>
                <a:ea typeface="Calibri Light"/>
                <a:cs typeface="Calibri Light"/>
              </a:rPr>
              <a:t>Centralized documentation repositories</a:t>
            </a:r>
          </a:p>
          <a:p>
            <a:pPr marL="457200" indent="-457200">
              <a:lnSpc>
                <a:spcPct val="100000"/>
              </a:lnSpc>
            </a:pPr>
            <a:r>
              <a:rPr lang="en-US" sz="1800">
                <a:solidFill>
                  <a:schemeClr val="tx2"/>
                </a:solidFill>
                <a:latin typeface="Calibri Light"/>
                <a:ea typeface="Calibri Light"/>
                <a:cs typeface="Calibri Light"/>
              </a:rPr>
              <a:t>Risk/Issue log in spreadsheets</a:t>
            </a:r>
          </a:p>
          <a:p>
            <a:pPr marL="0" indent="0">
              <a:lnSpc>
                <a:spcPct val="100000"/>
              </a:lnSpc>
              <a:buNone/>
            </a:pPr>
            <a:r>
              <a:rPr lang="en-US" sz="1800" b="1">
                <a:solidFill>
                  <a:schemeClr val="tx2"/>
                </a:solidFill>
                <a:latin typeface="Calibri Light"/>
                <a:ea typeface="Calibri Light"/>
                <a:cs typeface="Calibri Light"/>
              </a:rPr>
              <a:t>Reports &amp; Checkpoints</a:t>
            </a:r>
          </a:p>
          <a:p>
            <a:pPr marL="457200" indent="-457200">
              <a:lnSpc>
                <a:spcPct val="100000"/>
              </a:lnSpc>
            </a:pPr>
            <a:r>
              <a:rPr lang="en-US" sz="1800">
                <a:solidFill>
                  <a:schemeClr val="tx2"/>
                </a:solidFill>
                <a:latin typeface="Calibri Light"/>
                <a:ea typeface="Calibri Light"/>
                <a:cs typeface="Calibri Light"/>
              </a:rPr>
              <a:t>Progress Reports 1-4 at major phase completions</a:t>
            </a:r>
          </a:p>
          <a:p>
            <a:pPr marL="457200" indent="-457200">
              <a:lnSpc>
                <a:spcPct val="100000"/>
              </a:lnSpc>
            </a:pPr>
            <a:r>
              <a:rPr lang="en-US" sz="1800">
                <a:solidFill>
                  <a:schemeClr val="tx2"/>
                </a:solidFill>
                <a:latin typeface="Calibri Light"/>
                <a:ea typeface="Calibri Light"/>
                <a:cs typeface="Calibri Light"/>
              </a:rPr>
              <a:t>Midpoint Interim Report</a:t>
            </a:r>
          </a:p>
          <a:p>
            <a:pPr marL="457200" indent="-457200">
              <a:lnSpc>
                <a:spcPct val="100000"/>
              </a:lnSpc>
            </a:pPr>
            <a:r>
              <a:rPr lang="en-US" sz="1800">
                <a:solidFill>
                  <a:schemeClr val="tx2"/>
                </a:solidFill>
                <a:latin typeface="Calibri Light"/>
                <a:ea typeface="Calibri Light"/>
                <a:cs typeface="Calibri Light"/>
              </a:rPr>
              <a:t>Final Report at project completion</a:t>
            </a:r>
          </a:p>
          <a:p>
            <a:pPr>
              <a:lnSpc>
                <a:spcPct val="100000"/>
              </a:lnSpc>
            </a:pPr>
            <a:endParaRPr lang="en-US" sz="1800">
              <a:solidFill>
                <a:schemeClr val="tx2"/>
              </a:solidFill>
              <a:latin typeface="Calibri Light"/>
              <a:ea typeface="Calibri Light"/>
              <a:cs typeface="Calibri Light"/>
            </a:endParaRPr>
          </a:p>
          <a:p>
            <a:pPr marL="0" indent="0">
              <a:lnSpc>
                <a:spcPct val="100000"/>
              </a:lnSpc>
              <a:buNone/>
            </a:pPr>
            <a:endParaRPr lang="en-US" sz="1800">
              <a:solidFill>
                <a:schemeClr val="tx2"/>
              </a:solidFill>
              <a:latin typeface="Calibri Light"/>
              <a:ea typeface="Calibri Light"/>
              <a:cs typeface="Calibri Light"/>
            </a:endParaRPr>
          </a:p>
        </p:txBody>
      </p:sp>
      <p:grpSp>
        <p:nvGrpSpPr>
          <p:cNvPr id="24" name="Group 23">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25" name="Freeform: Shape 24">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sp>
          <p:nvSpPr>
            <p:cNvPr id="26" name="Freeform: Shape 25">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sp>
          <p:nvSpPr>
            <p:cNvPr id="27" name="Freeform: Shape 26">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sp>
          <p:nvSpPr>
            <p:cNvPr id="28" name="Freeform: Shape 27">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Light"/>
                <a:ea typeface="Calibri Light"/>
                <a:cs typeface="Calibri Light"/>
              </a:endParaRPr>
            </a:p>
          </p:txBody>
        </p:sp>
      </p:grpSp>
      <p:sp>
        <p:nvSpPr>
          <p:cNvPr id="11" name="TextBox 10">
            <a:extLst>
              <a:ext uri="{FF2B5EF4-FFF2-40B4-BE49-F238E27FC236}">
                <a16:creationId xmlns:a16="http://schemas.microsoft.com/office/drawing/2014/main" id="{5BA8B0B8-B648-A1FA-6DA6-78D9C4705282}"/>
              </a:ext>
            </a:extLst>
          </p:cNvPr>
          <p:cNvSpPr txBox="1"/>
          <p:nvPr/>
        </p:nvSpPr>
        <p:spPr>
          <a:xfrm>
            <a:off x="9769" y="1625950"/>
            <a:ext cx="5331523" cy="5593839"/>
          </a:xfrm>
          <a:prstGeom prst="rect">
            <a:avLst/>
          </a:prstGeom>
          <a:solidFill>
            <a:srgbClr val="D8E8E4">
              <a:alpha val="57000"/>
            </a:srgbClr>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spcBef>
                <a:spcPts val="1000"/>
              </a:spcBef>
            </a:pPr>
            <a:r>
              <a:rPr lang="en-US" b="1">
                <a:solidFill>
                  <a:schemeClr val="tx2"/>
                </a:solidFill>
                <a:latin typeface="Calibri Light"/>
                <a:ea typeface="Calibri Light"/>
                <a:cs typeface="Calibri Light"/>
              </a:rPr>
              <a:t>KPIs</a:t>
            </a:r>
            <a:endParaRPr lang="en-US">
              <a:solidFill>
                <a:schemeClr val="tx2"/>
              </a:solidFill>
              <a:latin typeface="Calibri Light"/>
              <a:ea typeface="Calibri Light"/>
              <a:cs typeface="Calibri Light"/>
            </a:endParaRPr>
          </a:p>
          <a:p>
            <a:pPr marL="457200" indent="-457200">
              <a:spcBef>
                <a:spcPts val="1000"/>
              </a:spcBef>
              <a:buFont typeface="Arial"/>
              <a:buChar char="•"/>
            </a:pPr>
            <a:r>
              <a:rPr lang="en-US">
                <a:solidFill>
                  <a:schemeClr val="tx2"/>
                </a:solidFill>
                <a:latin typeface="Calibri Light"/>
                <a:ea typeface="Calibri Light"/>
                <a:cs typeface="Calibri Light"/>
              </a:rPr>
              <a:t>Schedule adherence within +/-5%</a:t>
            </a:r>
          </a:p>
          <a:p>
            <a:pPr marL="457200" indent="-457200">
              <a:spcBef>
                <a:spcPts val="1000"/>
              </a:spcBef>
              <a:buFont typeface="Arial"/>
              <a:buChar char="•"/>
            </a:pPr>
            <a:r>
              <a:rPr lang="en-US">
                <a:solidFill>
                  <a:schemeClr val="tx2"/>
                </a:solidFill>
                <a:latin typeface="Calibri Light"/>
                <a:ea typeface="Calibri Light"/>
                <a:cs typeface="Calibri Light"/>
              </a:rPr>
              <a:t>Sensor accuracy &gt; 95%; App command success rate &gt; 95%</a:t>
            </a:r>
          </a:p>
          <a:p>
            <a:pPr marL="457200" indent="-457200">
              <a:spcBef>
                <a:spcPts val="1000"/>
              </a:spcBef>
              <a:buFont typeface="Arial"/>
              <a:buChar char="•"/>
            </a:pPr>
            <a:r>
              <a:rPr lang="en-US">
                <a:solidFill>
                  <a:schemeClr val="tx2"/>
                </a:solidFill>
                <a:latin typeface="Calibri Light"/>
                <a:ea typeface="Calibri Light"/>
                <a:cs typeface="Calibri Light"/>
              </a:rPr>
              <a:t>Plant survival: &gt;/ 4-5 plants thriving in pilot testing</a:t>
            </a:r>
          </a:p>
          <a:p>
            <a:pPr marL="457200" indent="-457200">
              <a:spcBef>
                <a:spcPts val="1000"/>
              </a:spcBef>
              <a:buFont typeface="Arial"/>
              <a:buChar char="•"/>
            </a:pPr>
            <a:r>
              <a:rPr lang="en-US">
                <a:solidFill>
                  <a:schemeClr val="tx2"/>
                </a:solidFill>
                <a:latin typeface="Calibri Light"/>
                <a:ea typeface="Calibri Light"/>
                <a:cs typeface="Calibri Light"/>
              </a:rPr>
              <a:t>User Satisfaction: &gt;/80%</a:t>
            </a:r>
          </a:p>
          <a:p>
            <a:pPr marL="457200" indent="-457200">
              <a:spcBef>
                <a:spcPts val="1000"/>
              </a:spcBef>
              <a:buFont typeface="Arial"/>
              <a:buChar char="•"/>
            </a:pPr>
            <a:r>
              <a:rPr lang="en-US">
                <a:solidFill>
                  <a:schemeClr val="tx2"/>
                </a:solidFill>
                <a:latin typeface="Calibri Light"/>
                <a:ea typeface="Calibri Light"/>
                <a:cs typeface="Calibri Light"/>
              </a:rPr>
              <a:t>Budget Compliance within +/- 10%</a:t>
            </a:r>
          </a:p>
          <a:p>
            <a:pPr marL="457200" indent="-457200">
              <a:spcBef>
                <a:spcPts val="1000"/>
              </a:spcBef>
              <a:buFont typeface="Arial"/>
              <a:buChar char="•"/>
            </a:pPr>
            <a:r>
              <a:rPr lang="en-US">
                <a:solidFill>
                  <a:schemeClr val="tx2"/>
                </a:solidFill>
                <a:latin typeface="Calibri Light"/>
                <a:ea typeface="Calibri Light"/>
                <a:cs typeface="Calibri Light"/>
              </a:rPr>
              <a:t>Risk mitigation closed within </a:t>
            </a:r>
            <a:r>
              <a:rPr lang="en-US" err="1">
                <a:solidFill>
                  <a:schemeClr val="tx2"/>
                </a:solidFill>
                <a:latin typeface="Calibri Light"/>
                <a:ea typeface="Calibri Light"/>
                <a:cs typeface="Calibri Light"/>
              </a:rPr>
              <a:t>alloted</a:t>
            </a:r>
            <a:r>
              <a:rPr lang="en-US">
                <a:solidFill>
                  <a:schemeClr val="tx2"/>
                </a:solidFill>
                <a:latin typeface="Calibri Light"/>
                <a:ea typeface="Calibri Light"/>
                <a:cs typeface="Calibri Light"/>
              </a:rPr>
              <a:t> times</a:t>
            </a:r>
          </a:p>
          <a:p>
            <a:pPr marL="285750" indent="-285750">
              <a:spcBef>
                <a:spcPts val="1000"/>
              </a:spcBef>
              <a:buFont typeface="Arial"/>
              <a:buChar char="•"/>
            </a:pPr>
            <a:r>
              <a:rPr lang="en-US">
                <a:solidFill>
                  <a:schemeClr val="tx2"/>
                </a:solidFill>
                <a:latin typeface="Calibri Light"/>
                <a:ea typeface="Calibri Light"/>
                <a:cs typeface="Calibri Light"/>
              </a:rPr>
              <a:t>Earned Value – Critical Ratio</a:t>
            </a:r>
          </a:p>
          <a:p>
            <a:pPr marL="285750" indent="-285750">
              <a:spcBef>
                <a:spcPts val="1000"/>
              </a:spcBef>
              <a:buFont typeface="Arial"/>
              <a:buChar char="•"/>
            </a:pPr>
            <a:r>
              <a:rPr lang="en-US">
                <a:solidFill>
                  <a:schemeClr val="tx2"/>
                </a:solidFill>
                <a:latin typeface="Calibri Light"/>
                <a:ea typeface="Calibri Light"/>
                <a:cs typeface="Calibri Light"/>
              </a:rPr>
              <a:t>CR = (Actual Budget / Budgeted Progress) x (BCW / ACW)</a:t>
            </a:r>
          </a:p>
          <a:p>
            <a:pPr marL="742950" lvl="1" indent="-285750">
              <a:spcBef>
                <a:spcPts val="500"/>
              </a:spcBef>
              <a:buFont typeface="Courier New,monospace"/>
              <a:buChar char="o"/>
            </a:pPr>
            <a:r>
              <a:rPr lang="en-US">
                <a:solidFill>
                  <a:schemeClr val="tx2"/>
                </a:solidFill>
                <a:latin typeface="Calibri Light"/>
                <a:ea typeface="Calibri Light"/>
                <a:cs typeface="Calibri Light"/>
              </a:rPr>
              <a:t>CR &gt; 1: ahead of plan; CR &lt; 1: behind plan</a:t>
            </a:r>
          </a:p>
          <a:p>
            <a:pPr marL="457200" indent="-457200">
              <a:spcBef>
                <a:spcPts val="1000"/>
              </a:spcBef>
              <a:buFont typeface="Courier New,monospace"/>
              <a:buChar char="o"/>
            </a:pPr>
            <a:endParaRPr lang="en-US">
              <a:latin typeface="Calibri Light"/>
              <a:ea typeface="Calibri Light"/>
              <a:cs typeface="Calibri Light"/>
            </a:endParaRPr>
          </a:p>
          <a:p>
            <a:pPr marL="457200" indent="-457200">
              <a:spcBef>
                <a:spcPts val="1000"/>
              </a:spcBef>
              <a:buFont typeface="Courier New,monospace"/>
              <a:buChar char="o"/>
            </a:pPr>
            <a:endParaRPr lang="en-US">
              <a:latin typeface="Calibri Light"/>
              <a:ea typeface="Calibri Light"/>
              <a:cs typeface="Calibri Light"/>
            </a:endParaRPr>
          </a:p>
          <a:p>
            <a:pPr algn="l"/>
            <a:endParaRPr lang="en-US">
              <a:latin typeface="Calibri Light"/>
              <a:ea typeface="Calibri Light"/>
              <a:cs typeface="Calibri Light"/>
            </a:endParaRPr>
          </a:p>
        </p:txBody>
      </p:sp>
    </p:spTree>
    <p:extLst>
      <p:ext uri="{BB962C8B-B14F-4D97-AF65-F5344CB8AC3E}">
        <p14:creationId xmlns:p14="http://schemas.microsoft.com/office/powerpoint/2010/main" val="966962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E8E4">
            <a:alpha val="64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98F4A-9058-EDF6-1CCF-9780F56ED611}"/>
              </a:ext>
            </a:extLst>
          </p:cNvPr>
          <p:cNvSpPr>
            <a:spLocks noGrp="1"/>
          </p:cNvSpPr>
          <p:nvPr>
            <p:ph type="title"/>
          </p:nvPr>
        </p:nvSpPr>
        <p:spPr>
          <a:xfrm>
            <a:off x="96281" y="-308952"/>
            <a:ext cx="3721101" cy="1346729"/>
          </a:xfrm>
        </p:spPr>
        <p:txBody>
          <a:bodyPr/>
          <a:lstStyle/>
          <a:p>
            <a:r>
              <a:rPr lang="en-US" sz="3600" b="1">
                <a:solidFill>
                  <a:srgbClr val="404040"/>
                </a:solidFill>
                <a:latin typeface="Calibri Light"/>
                <a:ea typeface="Calibri Light"/>
                <a:cs typeface="Calibri Light"/>
              </a:rPr>
              <a:t>Financial</a:t>
            </a:r>
            <a:r>
              <a:rPr lang="en-US" sz="3600">
                <a:solidFill>
                  <a:srgbClr val="404040"/>
                </a:solidFill>
                <a:latin typeface="Calibri Light"/>
                <a:ea typeface="Calibri Light"/>
                <a:cs typeface="Calibri Light"/>
              </a:rPr>
              <a:t> </a:t>
            </a:r>
            <a:r>
              <a:rPr lang="en-US" sz="3600" b="1">
                <a:solidFill>
                  <a:srgbClr val="404040"/>
                </a:solidFill>
                <a:latin typeface="Calibri Light"/>
                <a:ea typeface="Calibri Light"/>
                <a:cs typeface="Calibri Light"/>
              </a:rPr>
              <a:t>Plan</a:t>
            </a:r>
          </a:p>
        </p:txBody>
      </p:sp>
      <p:pic>
        <p:nvPicPr>
          <p:cNvPr id="8" name="Content Placeholder 7" descr="Plants in a glass case&#10;&#10;AI-generated content may be incorrect.">
            <a:extLst>
              <a:ext uri="{FF2B5EF4-FFF2-40B4-BE49-F238E27FC236}">
                <a16:creationId xmlns:a16="http://schemas.microsoft.com/office/drawing/2014/main" id="{3C4C6981-57FF-C0C1-5C1E-89A68C119D42}"/>
              </a:ext>
            </a:extLst>
          </p:cNvPr>
          <p:cNvPicPr>
            <a:picLocks noGrp="1" noChangeAspect="1"/>
          </p:cNvPicPr>
          <p:nvPr>
            <p:ph idx="1"/>
          </p:nvPr>
        </p:nvPicPr>
        <p:blipFill>
          <a:blip r:embed="rId2">
            <a:alphaModFix amt="59000"/>
          </a:blip>
          <a:stretch>
            <a:fillRect/>
          </a:stretch>
        </p:blipFill>
        <p:spPr>
          <a:xfrm>
            <a:off x="5384609" y="-1764"/>
            <a:ext cx="8160838" cy="6863115"/>
          </a:xfrm>
          <a:prstGeom prst="rect">
            <a:avLst/>
          </a:prstGeom>
        </p:spPr>
      </p:pic>
      <p:sp>
        <p:nvSpPr>
          <p:cNvPr id="9" name="TextBox 8">
            <a:extLst>
              <a:ext uri="{FF2B5EF4-FFF2-40B4-BE49-F238E27FC236}">
                <a16:creationId xmlns:a16="http://schemas.microsoft.com/office/drawing/2014/main" id="{476C3383-83D0-6D36-B1BD-671D77777E99}"/>
              </a:ext>
            </a:extLst>
          </p:cNvPr>
          <p:cNvSpPr txBox="1"/>
          <p:nvPr/>
        </p:nvSpPr>
        <p:spPr>
          <a:xfrm>
            <a:off x="96607" y="921021"/>
            <a:ext cx="4515558"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solidFill>
                  <a:schemeClr val="tx2"/>
                </a:solidFill>
                <a:latin typeface="Calibri Light"/>
                <a:ea typeface="Calibri Light"/>
                <a:cs typeface="Calibri Light"/>
              </a:rPr>
              <a:t> </a:t>
            </a:r>
            <a:r>
              <a:rPr lang="en-IN" sz="3000" kern="1200">
                <a:solidFill>
                  <a:schemeClr val="tx2"/>
                </a:solidFill>
                <a:latin typeface="Calibri Light"/>
                <a:ea typeface="Calibri Light"/>
                <a:cs typeface="Calibri Light"/>
              </a:rPr>
              <a:t>Total estimated cost: ~$4,648</a:t>
            </a:r>
            <a:endParaRPr lang="en-US">
              <a:solidFill>
                <a:schemeClr val="tx2"/>
              </a:solidFill>
            </a:endParaRPr>
          </a:p>
          <a:p>
            <a:pPr marL="457200" indent="-457200">
              <a:buFont typeface="Arial"/>
              <a:buChar char="•"/>
            </a:pPr>
            <a:r>
              <a:rPr lang="en-US" sz="3000">
                <a:solidFill>
                  <a:schemeClr val="tx2"/>
                </a:solidFill>
                <a:latin typeface="Calibri Light"/>
                <a:ea typeface="Calibri Light"/>
                <a:cs typeface="Calibri Light"/>
              </a:rPr>
              <a:t> </a:t>
            </a:r>
            <a:r>
              <a:rPr lang="en-IN" sz="3000" kern="1200">
                <a:solidFill>
                  <a:schemeClr val="tx2"/>
                </a:solidFill>
                <a:latin typeface="Calibri Light"/>
                <a:ea typeface="Calibri Light"/>
                <a:cs typeface="Calibri Light"/>
              </a:rPr>
              <a:t> Prototype budget: $260–$520</a:t>
            </a:r>
          </a:p>
          <a:p>
            <a:pPr marL="457200" indent="-457200" algn="l" rtl="0">
              <a:buFont typeface="Arial"/>
              <a:buChar char="•"/>
            </a:pPr>
            <a:r>
              <a:rPr lang="en-US" sz="3000">
                <a:solidFill>
                  <a:schemeClr val="tx2"/>
                </a:solidFill>
                <a:latin typeface="Calibri Light"/>
                <a:ea typeface="Calibri Light"/>
                <a:cs typeface="Calibri Light"/>
              </a:rPr>
              <a:t> </a:t>
            </a:r>
            <a:r>
              <a:rPr lang="en-IN" sz="3000" kern="1200">
                <a:solidFill>
                  <a:schemeClr val="tx2"/>
                </a:solidFill>
                <a:latin typeface="Calibri Light"/>
                <a:ea typeface="Calibri Light"/>
                <a:cs typeface="Calibri Light"/>
              </a:rPr>
              <a:t>Material + tools: $310 </a:t>
            </a:r>
          </a:p>
          <a:p>
            <a:pPr marL="457200" indent="-457200" algn="l" rtl="0">
              <a:buFont typeface="Arial"/>
              <a:buChar char="•"/>
            </a:pPr>
            <a:r>
              <a:rPr lang="en-US" sz="3000">
                <a:solidFill>
                  <a:schemeClr val="tx2"/>
                </a:solidFill>
                <a:latin typeface="Calibri Light"/>
                <a:ea typeface="Calibri Light"/>
                <a:cs typeface="Calibri Light"/>
              </a:rPr>
              <a:t> </a:t>
            </a:r>
            <a:r>
              <a:rPr lang="en-IN" sz="3000" kern="1200">
                <a:solidFill>
                  <a:schemeClr val="tx2"/>
                </a:solidFill>
                <a:latin typeface="Calibri Light"/>
                <a:ea typeface="Calibri Light"/>
                <a:cs typeface="Calibri Light"/>
              </a:rPr>
              <a:t>Personnel: $4,338</a:t>
            </a:r>
          </a:p>
          <a:p>
            <a:pPr marL="457200" indent="-457200" algn="l" rtl="0">
              <a:buFont typeface="Arial"/>
              <a:buChar char="•"/>
            </a:pPr>
            <a:r>
              <a:rPr lang="en-US" sz="3000">
                <a:solidFill>
                  <a:schemeClr val="tx2"/>
                </a:solidFill>
                <a:latin typeface="Calibri Light"/>
                <a:ea typeface="Calibri Light"/>
                <a:cs typeface="Calibri Light"/>
              </a:rPr>
              <a:t> </a:t>
            </a:r>
            <a:r>
              <a:rPr lang="en-IN" sz="3000" kern="1200">
                <a:solidFill>
                  <a:schemeClr val="tx2"/>
                </a:solidFill>
                <a:latin typeface="Calibri Light"/>
                <a:ea typeface="Calibri Light"/>
                <a:cs typeface="Calibri Light"/>
              </a:rPr>
              <a:t>Break-even: 49 pods</a:t>
            </a:r>
          </a:p>
          <a:p>
            <a:pPr marL="457200" indent="-457200" algn="l" rtl="0">
              <a:buFont typeface="Arial"/>
              <a:buChar char="•"/>
            </a:pPr>
            <a:r>
              <a:rPr lang="en-US" sz="3000">
                <a:solidFill>
                  <a:schemeClr val="tx2"/>
                </a:solidFill>
                <a:latin typeface="Calibri Light"/>
                <a:ea typeface="Calibri Light"/>
                <a:cs typeface="Calibri Light"/>
              </a:rPr>
              <a:t> </a:t>
            </a:r>
            <a:r>
              <a:rPr lang="en-US" sz="3000" kern="1200">
                <a:solidFill>
                  <a:schemeClr val="tx2"/>
                </a:solidFill>
                <a:latin typeface="Calibri Light"/>
                <a:ea typeface="Calibri Light"/>
                <a:cs typeface="Calibri Light"/>
              </a:rPr>
              <a:t>Estimated budget: $185–$455 for essential hardware and software tools</a:t>
            </a:r>
          </a:p>
          <a:p>
            <a:pPr marL="91440" indent="-91440" algn="l" rtl="0"/>
            <a:endParaRPr lang="en-US">
              <a:solidFill>
                <a:schemeClr val="tx2"/>
              </a:solidFill>
              <a:latin typeface="Calibri Light"/>
              <a:ea typeface="Calibri Light"/>
              <a:cs typeface="Calibri Light"/>
            </a:endParaRPr>
          </a:p>
          <a:p>
            <a:pPr marL="91440" indent="-91440" algn="l" rtl="0"/>
            <a:endParaRPr lang="en-US">
              <a:solidFill>
                <a:schemeClr val="tx2"/>
              </a:solidFill>
              <a:latin typeface="Calibri Light"/>
              <a:ea typeface="Calibri Light"/>
              <a:cs typeface="Calibri Light"/>
            </a:endParaRPr>
          </a:p>
          <a:p>
            <a:pPr algn="ctr"/>
            <a:endParaRPr lang="en-US">
              <a:solidFill>
                <a:schemeClr val="tx2"/>
              </a:solidFill>
              <a:latin typeface="Calibri Light"/>
              <a:ea typeface="Calibri Light"/>
              <a:cs typeface="Calibri Light"/>
            </a:endParaRPr>
          </a:p>
        </p:txBody>
      </p:sp>
      <p:sp>
        <p:nvSpPr>
          <p:cNvPr id="11" name="Rectangle 10">
            <a:extLst>
              <a:ext uri="{FF2B5EF4-FFF2-40B4-BE49-F238E27FC236}">
                <a16:creationId xmlns:a16="http://schemas.microsoft.com/office/drawing/2014/main" id="{952502A9-2D9D-2144-7DCC-63050092643A}"/>
              </a:ext>
            </a:extLst>
          </p:cNvPr>
          <p:cNvSpPr/>
          <p:nvPr/>
        </p:nvSpPr>
        <p:spPr>
          <a:xfrm>
            <a:off x="5284609" y="0"/>
            <a:ext cx="98779" cy="6857999"/>
          </a:xfrm>
          <a:prstGeom prst="rect">
            <a:avLst/>
          </a:prstGeom>
          <a:solidFill>
            <a:srgbClr val="91CC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653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75B916-9743-6943-0F6B-38D71FC4AAEA}"/>
              </a:ext>
            </a:extLst>
          </p:cNvPr>
          <p:cNvSpPr/>
          <p:nvPr/>
        </p:nvSpPr>
        <p:spPr>
          <a:xfrm>
            <a:off x="8411848" y="29307"/>
            <a:ext cx="4099713" cy="6825872"/>
          </a:xfrm>
          <a:prstGeom prst="rect">
            <a:avLst/>
          </a:prstGeom>
          <a:solidFill>
            <a:srgbClr val="D8E8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803901-4CA1-ECAA-89D5-679756FF5AF9}"/>
              </a:ext>
            </a:extLst>
          </p:cNvPr>
          <p:cNvSpPr>
            <a:spLocks noGrp="1"/>
          </p:cNvSpPr>
          <p:nvPr>
            <p:ph type="title"/>
          </p:nvPr>
        </p:nvSpPr>
        <p:spPr>
          <a:xfrm>
            <a:off x="118533" y="50119"/>
            <a:ext cx="8054073" cy="958350"/>
          </a:xfrm>
        </p:spPr>
        <p:txBody>
          <a:bodyPr>
            <a:noAutofit/>
          </a:bodyPr>
          <a:lstStyle/>
          <a:p>
            <a:r>
              <a:rPr lang="en-US" sz="2800" b="1" u="sng">
                <a:solidFill>
                  <a:schemeClr val="tx2"/>
                </a:solidFill>
                <a:latin typeface="Calibri Light"/>
                <a:ea typeface="Calibri Light"/>
                <a:cs typeface="Calibri Light"/>
              </a:rPr>
              <a:t>Resource Allocation – Team Roles &amp; Responsibilities</a:t>
            </a:r>
          </a:p>
        </p:txBody>
      </p:sp>
      <p:sp>
        <p:nvSpPr>
          <p:cNvPr id="3" name="Content Placeholder 2">
            <a:extLst>
              <a:ext uri="{FF2B5EF4-FFF2-40B4-BE49-F238E27FC236}">
                <a16:creationId xmlns:a16="http://schemas.microsoft.com/office/drawing/2014/main" id="{F13255F7-E7CF-1F14-C32B-D93D2B26908B}"/>
              </a:ext>
            </a:extLst>
          </p:cNvPr>
          <p:cNvSpPr>
            <a:spLocks noGrp="1"/>
          </p:cNvSpPr>
          <p:nvPr>
            <p:ph idx="1"/>
          </p:nvPr>
        </p:nvSpPr>
        <p:spPr>
          <a:xfrm>
            <a:off x="-1954" y="917087"/>
            <a:ext cx="8163384" cy="5621337"/>
          </a:xfrm>
        </p:spPr>
        <p:txBody>
          <a:bodyPr vert="horz" lIns="91440" tIns="45720" rIns="91440" bIns="45720" rtlCol="0" anchor="t">
            <a:normAutofit/>
          </a:bodyPr>
          <a:lstStyle/>
          <a:p>
            <a:r>
              <a:rPr lang="en-US" sz="3000" dirty="0">
                <a:solidFill>
                  <a:schemeClr val="tx2"/>
                </a:solidFill>
                <a:latin typeface="Calibri Light"/>
                <a:ea typeface="Calibri"/>
                <a:cs typeface="Calibri"/>
              </a:rPr>
              <a:t> </a:t>
            </a:r>
            <a:r>
              <a:rPr lang="en-US" b="1" dirty="0">
                <a:solidFill>
                  <a:schemeClr val="tx2"/>
                </a:solidFill>
                <a:latin typeface="Calibri Light"/>
                <a:ea typeface="Calibri"/>
                <a:cs typeface="Calibri"/>
              </a:rPr>
              <a:t>Project Manager </a:t>
            </a:r>
            <a:r>
              <a:rPr lang="en-US" dirty="0">
                <a:solidFill>
                  <a:schemeClr val="tx2"/>
                </a:solidFill>
                <a:latin typeface="Calibri Light"/>
                <a:ea typeface="Calibri"/>
                <a:cs typeface="Calibri"/>
              </a:rPr>
              <a:t>— Tracks milestones, consolidates reports, escalates risks.</a:t>
            </a:r>
            <a:endParaRPr lang="en-US" dirty="0">
              <a:solidFill>
                <a:schemeClr val="tx2"/>
              </a:solidFill>
              <a:latin typeface="Calibri Light"/>
              <a:ea typeface="Calibri Light"/>
              <a:cs typeface="Calibri Light"/>
            </a:endParaRPr>
          </a:p>
          <a:p>
            <a:r>
              <a:rPr lang="en-US" dirty="0">
                <a:solidFill>
                  <a:schemeClr val="tx2"/>
                </a:solidFill>
                <a:latin typeface="Calibri Light"/>
                <a:ea typeface="Calibri"/>
                <a:cs typeface="Calibri"/>
              </a:rPr>
              <a:t> </a:t>
            </a:r>
            <a:r>
              <a:rPr lang="en-US" b="1" dirty="0">
                <a:solidFill>
                  <a:schemeClr val="tx2"/>
                </a:solidFill>
                <a:latin typeface="Calibri Light"/>
                <a:ea typeface="Calibri"/>
                <a:cs typeface="Calibri"/>
              </a:rPr>
              <a:t>Hardware Lead </a:t>
            </a:r>
            <a:r>
              <a:rPr lang="en-US" dirty="0">
                <a:solidFill>
                  <a:schemeClr val="tx2"/>
                </a:solidFill>
                <a:latin typeface="Calibri Light"/>
                <a:ea typeface="Calibri"/>
                <a:cs typeface="Calibri"/>
              </a:rPr>
              <a:t>— Oversees sensor development, pod design, and electronics integration.</a:t>
            </a:r>
            <a:endParaRPr lang="en-US" dirty="0">
              <a:solidFill>
                <a:schemeClr val="tx2"/>
              </a:solidFill>
              <a:latin typeface="Calibri Light"/>
              <a:ea typeface="Calibri Light"/>
              <a:cs typeface="Calibri Light"/>
            </a:endParaRPr>
          </a:p>
          <a:p>
            <a:r>
              <a:rPr lang="en-US" dirty="0">
                <a:solidFill>
                  <a:schemeClr val="tx2"/>
                </a:solidFill>
                <a:latin typeface="Calibri Light"/>
                <a:ea typeface="Calibri"/>
                <a:cs typeface="Calibri"/>
              </a:rPr>
              <a:t> </a:t>
            </a:r>
            <a:r>
              <a:rPr lang="en-US" b="1" dirty="0">
                <a:solidFill>
                  <a:schemeClr val="tx2"/>
                </a:solidFill>
                <a:latin typeface="Calibri Light"/>
                <a:ea typeface="Calibri"/>
                <a:cs typeface="Calibri"/>
              </a:rPr>
              <a:t>Software Lead </a:t>
            </a:r>
            <a:r>
              <a:rPr lang="en-US" dirty="0">
                <a:solidFill>
                  <a:schemeClr val="tx2"/>
                </a:solidFill>
                <a:latin typeface="Calibri Light"/>
                <a:ea typeface="Calibri"/>
                <a:cs typeface="Calibri"/>
              </a:rPr>
              <a:t>— Handles app development, functionality testing, user feedback adjustments.</a:t>
            </a:r>
            <a:endParaRPr lang="en-US" dirty="0">
              <a:solidFill>
                <a:schemeClr val="tx2"/>
              </a:solidFill>
              <a:latin typeface="Calibri Light"/>
              <a:ea typeface="Calibri Light"/>
              <a:cs typeface="Calibri Light"/>
            </a:endParaRPr>
          </a:p>
          <a:p>
            <a:r>
              <a:rPr lang="en-US" dirty="0">
                <a:solidFill>
                  <a:schemeClr val="tx2"/>
                </a:solidFill>
                <a:latin typeface="Calibri Light"/>
                <a:ea typeface="Calibri"/>
                <a:cs typeface="Calibri"/>
              </a:rPr>
              <a:t> </a:t>
            </a:r>
            <a:r>
              <a:rPr lang="en-US" b="1" dirty="0">
                <a:solidFill>
                  <a:schemeClr val="tx2"/>
                </a:solidFill>
                <a:latin typeface="Calibri Light"/>
                <a:ea typeface="Calibri"/>
                <a:cs typeface="Calibri"/>
              </a:rPr>
              <a:t>QA Lead </a:t>
            </a:r>
            <a:r>
              <a:rPr lang="en-US" dirty="0">
                <a:solidFill>
                  <a:schemeClr val="tx2"/>
                </a:solidFill>
                <a:latin typeface="Calibri Light"/>
                <a:ea typeface="Calibri"/>
                <a:cs typeface="Calibri"/>
              </a:rPr>
              <a:t>— Conducts testing, ensures usability criteria, documents results.</a:t>
            </a:r>
            <a:endParaRPr lang="en-US" dirty="0">
              <a:solidFill>
                <a:schemeClr val="tx2"/>
              </a:solidFill>
              <a:latin typeface="Calibri Light"/>
              <a:ea typeface="Calibri Light"/>
              <a:cs typeface="Calibri Light"/>
            </a:endParaRPr>
          </a:p>
          <a:p>
            <a:r>
              <a:rPr lang="en-US" dirty="0">
                <a:solidFill>
                  <a:schemeClr val="tx2"/>
                </a:solidFill>
                <a:latin typeface="Calibri Light"/>
                <a:ea typeface="Calibri"/>
                <a:cs typeface="Calibri"/>
              </a:rPr>
              <a:t> </a:t>
            </a:r>
            <a:r>
              <a:rPr lang="en-US" b="1" dirty="0">
                <a:solidFill>
                  <a:schemeClr val="tx2"/>
                </a:solidFill>
                <a:latin typeface="Calibri Light"/>
                <a:ea typeface="Calibri"/>
                <a:cs typeface="Calibri"/>
              </a:rPr>
              <a:t>Finance Lead </a:t>
            </a:r>
            <a:r>
              <a:rPr lang="en-US" dirty="0">
                <a:solidFill>
                  <a:schemeClr val="tx2"/>
                </a:solidFill>
                <a:latin typeface="Calibri Light"/>
                <a:ea typeface="Calibri"/>
                <a:cs typeface="Calibri"/>
              </a:rPr>
              <a:t>— Budget tracking, cost reporting, procurement decisions.</a:t>
            </a:r>
            <a:endParaRPr lang="en-US" dirty="0">
              <a:solidFill>
                <a:schemeClr val="tx2"/>
              </a:solidFill>
              <a:latin typeface="Calibri Light"/>
              <a:ea typeface="Calibri Light"/>
              <a:cs typeface="Calibri Light"/>
            </a:endParaRPr>
          </a:p>
          <a:p>
            <a:r>
              <a:rPr lang="en-US" dirty="0">
                <a:solidFill>
                  <a:schemeClr val="tx2"/>
                </a:solidFill>
                <a:latin typeface="Calibri Light"/>
                <a:ea typeface="Calibri"/>
                <a:cs typeface="Calibri"/>
              </a:rPr>
              <a:t> </a:t>
            </a:r>
            <a:r>
              <a:rPr lang="en-US" b="1" dirty="0">
                <a:solidFill>
                  <a:schemeClr val="tx2"/>
                </a:solidFill>
                <a:latin typeface="Calibri Light"/>
                <a:ea typeface="Calibri"/>
                <a:cs typeface="Calibri"/>
              </a:rPr>
              <a:t>Tools used </a:t>
            </a:r>
            <a:r>
              <a:rPr lang="en-US" dirty="0">
                <a:solidFill>
                  <a:schemeClr val="tx2"/>
                </a:solidFill>
                <a:latin typeface="Calibri Light"/>
                <a:ea typeface="Calibri"/>
                <a:cs typeface="Calibri"/>
              </a:rPr>
              <a:t>— MS Project, Trello, OneDrive, Google Drive, Risk log spreadsheet.</a:t>
            </a:r>
            <a:endParaRPr lang="en-US" dirty="0">
              <a:solidFill>
                <a:schemeClr val="tx2"/>
              </a:solidFill>
              <a:latin typeface="Calibri Light"/>
              <a:ea typeface="Calibri Light"/>
              <a:cs typeface="Calibri Light"/>
            </a:endParaRPr>
          </a:p>
          <a:p>
            <a:endParaRPr lang="en-US" dirty="0">
              <a:solidFill>
                <a:schemeClr val="tx2"/>
              </a:solidFill>
              <a:latin typeface="Calibri Light"/>
              <a:ea typeface="Calibri Light"/>
              <a:cs typeface="Calibri Light"/>
            </a:endParaRPr>
          </a:p>
          <a:p>
            <a:endParaRPr lang="en-US" dirty="0">
              <a:solidFill>
                <a:schemeClr val="tx2"/>
              </a:solidFill>
              <a:latin typeface="Calibri Light"/>
              <a:ea typeface="Calibri Light"/>
              <a:cs typeface="Calibri Light"/>
            </a:endParaRPr>
          </a:p>
          <a:p>
            <a:endParaRPr lang="en-US" dirty="0">
              <a:solidFill>
                <a:schemeClr val="tx2"/>
              </a:solidFill>
              <a:latin typeface="Calibri Light"/>
              <a:ea typeface="Calibri Light"/>
              <a:cs typeface="Calibri Light"/>
            </a:endParaRPr>
          </a:p>
          <a:p>
            <a:endParaRPr lang="en-US" dirty="0">
              <a:solidFill>
                <a:schemeClr val="tx2"/>
              </a:solidFill>
              <a:latin typeface="Calibri Light"/>
              <a:ea typeface="Calibri Light"/>
              <a:cs typeface="Calibri Light"/>
            </a:endParaRPr>
          </a:p>
        </p:txBody>
      </p:sp>
      <p:pic>
        <p:nvPicPr>
          <p:cNvPr id="5" name="Picture 4" descr="A balcony with plants on the railings&#10;&#10;AI-generated content may be incorrect.">
            <a:extLst>
              <a:ext uri="{FF2B5EF4-FFF2-40B4-BE49-F238E27FC236}">
                <a16:creationId xmlns:a16="http://schemas.microsoft.com/office/drawing/2014/main" id="{D124592E-17E0-3F40-FC77-48537CEA4A38}"/>
              </a:ext>
            </a:extLst>
          </p:cNvPr>
          <p:cNvPicPr>
            <a:picLocks noChangeAspect="1"/>
          </p:cNvPicPr>
          <p:nvPr/>
        </p:nvPicPr>
        <p:blipFill>
          <a:blip r:embed="rId2">
            <a:alphaModFix amt="68000"/>
          </a:blip>
          <a:stretch>
            <a:fillRect/>
          </a:stretch>
        </p:blipFill>
        <p:spPr>
          <a:xfrm>
            <a:off x="8411008" y="1782340"/>
            <a:ext cx="3883324" cy="3357359"/>
          </a:xfrm>
          <a:prstGeom prst="rect">
            <a:avLst/>
          </a:prstGeom>
        </p:spPr>
      </p:pic>
      <p:sp>
        <p:nvSpPr>
          <p:cNvPr id="8" name="Rectangle 7">
            <a:extLst>
              <a:ext uri="{FF2B5EF4-FFF2-40B4-BE49-F238E27FC236}">
                <a16:creationId xmlns:a16="http://schemas.microsoft.com/office/drawing/2014/main" id="{9A0A0D05-E287-A06B-D1F3-162B04503728}"/>
              </a:ext>
            </a:extLst>
          </p:cNvPr>
          <p:cNvSpPr/>
          <p:nvPr/>
        </p:nvSpPr>
        <p:spPr>
          <a:xfrm flipH="1">
            <a:off x="8227319" y="29308"/>
            <a:ext cx="184528" cy="6789615"/>
          </a:xfrm>
          <a:prstGeom prst="rect">
            <a:avLst/>
          </a:prstGeom>
          <a:solidFill>
            <a:srgbClr val="C3D9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72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3D9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17DB-23C0-DB77-81E0-42E7DC1A17D1}"/>
              </a:ext>
            </a:extLst>
          </p:cNvPr>
          <p:cNvSpPr>
            <a:spLocks noGrp="1"/>
          </p:cNvSpPr>
          <p:nvPr>
            <p:ph type="title"/>
          </p:nvPr>
        </p:nvSpPr>
        <p:spPr>
          <a:xfrm>
            <a:off x="1845" y="3663"/>
            <a:ext cx="6666524" cy="641718"/>
          </a:xfrm>
        </p:spPr>
        <p:txBody>
          <a:bodyPr/>
          <a:lstStyle/>
          <a:p>
            <a:r>
              <a:rPr lang="en-US" sz="3600" b="1">
                <a:solidFill>
                  <a:schemeClr val="tx2"/>
                </a:solidFill>
                <a:latin typeface="Calibri Light"/>
                <a:ea typeface="Calibri Light"/>
                <a:cs typeface="Calibri Light"/>
              </a:rPr>
              <a:t>Conclusion – Indoor Farming Pods</a:t>
            </a:r>
            <a:endParaRPr lang="en-US">
              <a:solidFill>
                <a:schemeClr val="tx2"/>
              </a:solidFill>
              <a:latin typeface="Calibri Light"/>
              <a:ea typeface="Calibri Light"/>
              <a:cs typeface="Calibri Light"/>
            </a:endParaRPr>
          </a:p>
        </p:txBody>
      </p:sp>
      <p:sp>
        <p:nvSpPr>
          <p:cNvPr id="3" name="Content Placeholder 2">
            <a:extLst>
              <a:ext uri="{FF2B5EF4-FFF2-40B4-BE49-F238E27FC236}">
                <a16:creationId xmlns:a16="http://schemas.microsoft.com/office/drawing/2014/main" id="{5A8C24A2-D534-69F2-77F5-A0F8BA3E32BF}"/>
              </a:ext>
            </a:extLst>
          </p:cNvPr>
          <p:cNvSpPr>
            <a:spLocks noGrp="1"/>
          </p:cNvSpPr>
          <p:nvPr>
            <p:ph idx="1"/>
          </p:nvPr>
        </p:nvSpPr>
        <p:spPr>
          <a:xfrm>
            <a:off x="218" y="995885"/>
            <a:ext cx="6766611" cy="5727878"/>
          </a:xfrm>
        </p:spPr>
        <p:txBody>
          <a:bodyPr vert="horz" lIns="91440" tIns="45720" rIns="91440" bIns="45720" rtlCol="0" anchor="t">
            <a:noAutofit/>
          </a:bodyPr>
          <a:lstStyle/>
          <a:p>
            <a:r>
              <a:rPr lang="en-US" sz="3000" b="1">
                <a:solidFill>
                  <a:schemeClr val="tx2"/>
                </a:solidFill>
                <a:latin typeface="Calibri Light"/>
                <a:ea typeface="Calibri Light"/>
                <a:cs typeface="Calibri Light"/>
              </a:rPr>
              <a:t>Purpose: </a:t>
            </a:r>
            <a:r>
              <a:rPr lang="en-US" sz="3000">
                <a:solidFill>
                  <a:schemeClr val="tx2"/>
                </a:solidFill>
                <a:latin typeface="Calibri Light"/>
                <a:ea typeface="Calibri Light"/>
                <a:cs typeface="Calibri Light"/>
              </a:rPr>
              <a:t>Delivers a Smart modular indoor farming for urban homes, piloting in Boston</a:t>
            </a:r>
          </a:p>
          <a:p>
            <a:r>
              <a:rPr lang="en-US" sz="3000">
                <a:solidFill>
                  <a:schemeClr val="tx2"/>
                </a:solidFill>
                <a:latin typeface="Calibri Light"/>
                <a:ea typeface="Calibri Light"/>
                <a:cs typeface="Calibri Light"/>
              </a:rPr>
              <a:t> Pods will utilize sensors to monitor humidity, light, and water for automizing plant health and growth</a:t>
            </a:r>
          </a:p>
          <a:p>
            <a:r>
              <a:rPr lang="en-US" sz="3000">
                <a:solidFill>
                  <a:schemeClr val="tx2"/>
                </a:solidFill>
                <a:latin typeface="Calibri Light"/>
                <a:ea typeface="Calibri Light"/>
                <a:cs typeface="Calibri Light"/>
              </a:rPr>
              <a:t>Overall system has potential for mitigating risk, reducing costs, and a scalable foundation for a user-friendly indoor growing solution</a:t>
            </a:r>
          </a:p>
          <a:p>
            <a:endParaRPr lang="en-US" sz="3000">
              <a:solidFill>
                <a:schemeClr val="tx2"/>
              </a:solidFill>
              <a:latin typeface="Calibri Light"/>
              <a:ea typeface="Calibri Light"/>
              <a:cs typeface="Calibri Light"/>
            </a:endParaRPr>
          </a:p>
          <a:p>
            <a:endParaRPr lang="en-US" sz="3000">
              <a:solidFill>
                <a:schemeClr val="tx2"/>
              </a:solidFill>
              <a:latin typeface="Calibri Light"/>
              <a:ea typeface="Calibri Light"/>
              <a:cs typeface="Calibri Light"/>
            </a:endParaRPr>
          </a:p>
          <a:p>
            <a:endParaRPr lang="en-US" sz="2400">
              <a:solidFill>
                <a:schemeClr val="tx2"/>
              </a:solidFill>
              <a:latin typeface="Calibri Light"/>
              <a:ea typeface="Calibri Light"/>
              <a:cs typeface="Calibri Light"/>
            </a:endParaRPr>
          </a:p>
          <a:p>
            <a:endParaRPr lang="en-US" sz="2400">
              <a:solidFill>
                <a:schemeClr val="tx2"/>
              </a:solidFill>
              <a:latin typeface="Calibri Light"/>
              <a:ea typeface="Calibri Light"/>
              <a:cs typeface="Calibri Light"/>
            </a:endParaRPr>
          </a:p>
          <a:p>
            <a:endParaRPr lang="en-US" sz="2200">
              <a:solidFill>
                <a:schemeClr val="tx2"/>
              </a:solidFill>
              <a:latin typeface="Calibri Light"/>
              <a:ea typeface="Calibri Light"/>
              <a:cs typeface="Calibri Light"/>
            </a:endParaRPr>
          </a:p>
        </p:txBody>
      </p:sp>
      <p:pic>
        <p:nvPicPr>
          <p:cNvPr id="5" name="Picture 4" descr="A group of plants in a basket&#10;&#10;AI-generated content may be incorrect.">
            <a:extLst>
              <a:ext uri="{FF2B5EF4-FFF2-40B4-BE49-F238E27FC236}">
                <a16:creationId xmlns:a16="http://schemas.microsoft.com/office/drawing/2014/main" id="{9D4EDFAE-55F2-56BF-06EF-7E7DDECFB470}"/>
              </a:ext>
            </a:extLst>
          </p:cNvPr>
          <p:cNvPicPr>
            <a:picLocks noChangeAspect="1"/>
          </p:cNvPicPr>
          <p:nvPr/>
        </p:nvPicPr>
        <p:blipFill>
          <a:blip r:embed="rId2">
            <a:alphaModFix amt="76000"/>
          </a:blip>
          <a:stretch>
            <a:fillRect/>
          </a:stretch>
        </p:blipFill>
        <p:spPr>
          <a:xfrm>
            <a:off x="6895451" y="0"/>
            <a:ext cx="5297847" cy="6858000"/>
          </a:xfrm>
          <a:prstGeom prst="rect">
            <a:avLst/>
          </a:prstGeom>
        </p:spPr>
      </p:pic>
    </p:spTree>
    <p:extLst>
      <p:ext uri="{BB962C8B-B14F-4D97-AF65-F5344CB8AC3E}">
        <p14:creationId xmlns:p14="http://schemas.microsoft.com/office/powerpoint/2010/main" val="3116444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815</Words>
  <Application>Microsoft Macintosh PowerPoint</Application>
  <PresentationFormat>Widescreen</PresentationFormat>
  <Paragraphs>102</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Calibri Light</vt:lpstr>
      <vt:lpstr>Courier New,monospace</vt:lpstr>
      <vt:lpstr>office theme</vt:lpstr>
      <vt:lpstr>EGMT 5220: Smart Modular Indoor Farming Pods</vt:lpstr>
      <vt:lpstr>Project Objective</vt:lpstr>
      <vt:lpstr>Project Organization</vt:lpstr>
      <vt:lpstr>Implementation Plan</vt:lpstr>
      <vt:lpstr>Risk Analysis</vt:lpstr>
      <vt:lpstr>Monitoring &amp; Control</vt:lpstr>
      <vt:lpstr>Financial Plan</vt:lpstr>
      <vt:lpstr>Resource Allocation – Team Roles &amp; Responsibilities</vt:lpstr>
      <vt:lpstr>Conclusion – Indoor Farming Pods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Shamsheer Hussain Syed</cp:lastModifiedBy>
  <cp:revision>3</cp:revision>
  <dcterms:created xsi:type="dcterms:W3CDTF">2025-12-04T03:52:22Z</dcterms:created>
  <dcterms:modified xsi:type="dcterms:W3CDTF">2025-12-26T12:37:22Z</dcterms:modified>
</cp:coreProperties>
</file>